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18403" y="3035300"/>
            <a:ext cx="521906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F7F9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7F9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7F9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F7F9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72389" y="0"/>
            <a:ext cx="5683885" cy="5683885"/>
          </a:xfrm>
          <a:custGeom>
            <a:avLst/>
            <a:gdLst/>
            <a:ahLst/>
            <a:cxnLst/>
            <a:rect l="l" t="t" r="r" b="b"/>
            <a:pathLst>
              <a:path w="5683884" h="5683885">
                <a:moveTo>
                  <a:pt x="5683610" y="0"/>
                </a:moveTo>
                <a:lnTo>
                  <a:pt x="0" y="0"/>
                </a:lnTo>
                <a:lnTo>
                  <a:pt x="4047" y="39851"/>
                </a:lnTo>
                <a:lnTo>
                  <a:pt x="9655" y="90963"/>
                </a:lnTo>
                <a:lnTo>
                  <a:pt x="15666" y="141952"/>
                </a:lnTo>
                <a:lnTo>
                  <a:pt x="22080" y="192817"/>
                </a:lnTo>
                <a:lnTo>
                  <a:pt x="28894" y="243556"/>
                </a:lnTo>
                <a:lnTo>
                  <a:pt x="36106" y="294168"/>
                </a:lnTo>
                <a:lnTo>
                  <a:pt x="43716" y="344650"/>
                </a:lnTo>
                <a:lnTo>
                  <a:pt x="51721" y="395003"/>
                </a:lnTo>
                <a:lnTo>
                  <a:pt x="60120" y="445222"/>
                </a:lnTo>
                <a:lnTo>
                  <a:pt x="68911" y="495308"/>
                </a:lnTo>
                <a:lnTo>
                  <a:pt x="78092" y="545259"/>
                </a:lnTo>
                <a:lnTo>
                  <a:pt x="87662" y="595072"/>
                </a:lnTo>
                <a:lnTo>
                  <a:pt x="97620" y="644746"/>
                </a:lnTo>
                <a:lnTo>
                  <a:pt x="107963" y="694280"/>
                </a:lnTo>
                <a:lnTo>
                  <a:pt x="118690" y="743672"/>
                </a:lnTo>
                <a:lnTo>
                  <a:pt x="129799" y="792920"/>
                </a:lnTo>
                <a:lnTo>
                  <a:pt x="141289" y="842022"/>
                </a:lnTo>
                <a:lnTo>
                  <a:pt x="153158" y="890978"/>
                </a:lnTo>
                <a:lnTo>
                  <a:pt x="165405" y="939785"/>
                </a:lnTo>
                <a:lnTo>
                  <a:pt x="178027" y="988442"/>
                </a:lnTo>
                <a:lnTo>
                  <a:pt x="191024" y="1036947"/>
                </a:lnTo>
                <a:lnTo>
                  <a:pt x="204392" y="1085298"/>
                </a:lnTo>
                <a:lnTo>
                  <a:pt x="218132" y="1133494"/>
                </a:lnTo>
                <a:lnTo>
                  <a:pt x="232241" y="1181534"/>
                </a:lnTo>
                <a:lnTo>
                  <a:pt x="246718" y="1229415"/>
                </a:lnTo>
                <a:lnTo>
                  <a:pt x="261561" y="1277136"/>
                </a:lnTo>
                <a:lnTo>
                  <a:pt x="276768" y="1324695"/>
                </a:lnTo>
                <a:lnTo>
                  <a:pt x="292338" y="1372091"/>
                </a:lnTo>
                <a:lnTo>
                  <a:pt x="308269" y="1419322"/>
                </a:lnTo>
                <a:lnTo>
                  <a:pt x="324559" y="1466386"/>
                </a:lnTo>
                <a:lnTo>
                  <a:pt x="341207" y="1513282"/>
                </a:lnTo>
                <a:lnTo>
                  <a:pt x="358211" y="1560008"/>
                </a:lnTo>
                <a:lnTo>
                  <a:pt x="375570" y="1606563"/>
                </a:lnTo>
                <a:lnTo>
                  <a:pt x="393282" y="1652944"/>
                </a:lnTo>
                <a:lnTo>
                  <a:pt x="411345" y="1699151"/>
                </a:lnTo>
                <a:lnTo>
                  <a:pt x="429758" y="1745181"/>
                </a:lnTo>
                <a:lnTo>
                  <a:pt x="448518" y="1791034"/>
                </a:lnTo>
                <a:lnTo>
                  <a:pt x="467625" y="1836706"/>
                </a:lnTo>
                <a:lnTo>
                  <a:pt x="487077" y="1882197"/>
                </a:lnTo>
                <a:lnTo>
                  <a:pt x="506872" y="1927506"/>
                </a:lnTo>
                <a:lnTo>
                  <a:pt x="527008" y="1972630"/>
                </a:lnTo>
                <a:lnTo>
                  <a:pt x="547484" y="2017567"/>
                </a:lnTo>
                <a:lnTo>
                  <a:pt x="568299" y="2062317"/>
                </a:lnTo>
                <a:lnTo>
                  <a:pt x="589450" y="2106877"/>
                </a:lnTo>
                <a:lnTo>
                  <a:pt x="610936" y="2151246"/>
                </a:lnTo>
                <a:lnTo>
                  <a:pt x="632755" y="2195422"/>
                </a:lnTo>
                <a:lnTo>
                  <a:pt x="654906" y="2239404"/>
                </a:lnTo>
                <a:lnTo>
                  <a:pt x="677386" y="2283190"/>
                </a:lnTo>
                <a:lnTo>
                  <a:pt x="700196" y="2326778"/>
                </a:lnTo>
                <a:lnTo>
                  <a:pt x="723332" y="2370167"/>
                </a:lnTo>
                <a:lnTo>
                  <a:pt x="746793" y="2413356"/>
                </a:lnTo>
                <a:lnTo>
                  <a:pt x="770577" y="2456341"/>
                </a:lnTo>
                <a:lnTo>
                  <a:pt x="794684" y="2499122"/>
                </a:lnTo>
                <a:lnTo>
                  <a:pt x="819111" y="2541698"/>
                </a:lnTo>
                <a:lnTo>
                  <a:pt x="843856" y="2584066"/>
                </a:lnTo>
                <a:lnTo>
                  <a:pt x="868918" y="2626225"/>
                </a:lnTo>
                <a:lnTo>
                  <a:pt x="894296" y="2668173"/>
                </a:lnTo>
                <a:lnTo>
                  <a:pt x="919987" y="2709909"/>
                </a:lnTo>
                <a:lnTo>
                  <a:pt x="945990" y="2751430"/>
                </a:lnTo>
                <a:lnTo>
                  <a:pt x="972304" y="2792737"/>
                </a:lnTo>
                <a:lnTo>
                  <a:pt x="998927" y="2833826"/>
                </a:lnTo>
                <a:lnTo>
                  <a:pt x="1025856" y="2874696"/>
                </a:lnTo>
                <a:lnTo>
                  <a:pt x="1053092" y="2915345"/>
                </a:lnTo>
                <a:lnTo>
                  <a:pt x="1080631" y="2955772"/>
                </a:lnTo>
                <a:lnTo>
                  <a:pt x="1108472" y="2995976"/>
                </a:lnTo>
                <a:lnTo>
                  <a:pt x="1136614" y="3035954"/>
                </a:lnTo>
                <a:lnTo>
                  <a:pt x="1165055" y="3075705"/>
                </a:lnTo>
                <a:lnTo>
                  <a:pt x="1193793" y="3115227"/>
                </a:lnTo>
                <a:lnTo>
                  <a:pt x="1222827" y="3154519"/>
                </a:lnTo>
                <a:lnTo>
                  <a:pt x="1252155" y="3193579"/>
                </a:lnTo>
                <a:lnTo>
                  <a:pt x="1281776" y="3232405"/>
                </a:lnTo>
                <a:lnTo>
                  <a:pt x="1311687" y="3270997"/>
                </a:lnTo>
                <a:lnTo>
                  <a:pt x="1341887" y="3309351"/>
                </a:lnTo>
                <a:lnTo>
                  <a:pt x="1372375" y="3347467"/>
                </a:lnTo>
                <a:lnTo>
                  <a:pt x="1403149" y="3385342"/>
                </a:lnTo>
                <a:lnTo>
                  <a:pt x="1434207" y="3422976"/>
                </a:lnTo>
                <a:lnTo>
                  <a:pt x="1465548" y="3460366"/>
                </a:lnTo>
                <a:lnTo>
                  <a:pt x="1497170" y="3497512"/>
                </a:lnTo>
                <a:lnTo>
                  <a:pt x="1529071" y="3534410"/>
                </a:lnTo>
                <a:lnTo>
                  <a:pt x="1561250" y="3571061"/>
                </a:lnTo>
                <a:lnTo>
                  <a:pt x="1593705" y="3607461"/>
                </a:lnTo>
                <a:lnTo>
                  <a:pt x="1626435" y="3643610"/>
                </a:lnTo>
                <a:lnTo>
                  <a:pt x="1659437" y="3679505"/>
                </a:lnTo>
                <a:lnTo>
                  <a:pt x="1692710" y="3715146"/>
                </a:lnTo>
                <a:lnTo>
                  <a:pt x="1726254" y="3750530"/>
                </a:lnTo>
                <a:lnTo>
                  <a:pt x="1760065" y="3785656"/>
                </a:lnTo>
                <a:lnTo>
                  <a:pt x="1794142" y="3820523"/>
                </a:lnTo>
                <a:lnTo>
                  <a:pt x="1828484" y="3855128"/>
                </a:lnTo>
                <a:lnTo>
                  <a:pt x="1863089" y="3889470"/>
                </a:lnTo>
                <a:lnTo>
                  <a:pt x="1897955" y="3923547"/>
                </a:lnTo>
                <a:lnTo>
                  <a:pt x="1933081" y="3957358"/>
                </a:lnTo>
                <a:lnTo>
                  <a:pt x="1968466" y="3990901"/>
                </a:lnTo>
                <a:lnTo>
                  <a:pt x="2004106" y="4024174"/>
                </a:lnTo>
                <a:lnTo>
                  <a:pt x="2040002" y="4057177"/>
                </a:lnTo>
                <a:lnTo>
                  <a:pt x="2076151" y="4089906"/>
                </a:lnTo>
                <a:lnTo>
                  <a:pt x="2112551" y="4122361"/>
                </a:lnTo>
                <a:lnTo>
                  <a:pt x="2149201" y="4154540"/>
                </a:lnTo>
                <a:lnTo>
                  <a:pt x="2186100" y="4186441"/>
                </a:lnTo>
                <a:lnTo>
                  <a:pt x="2223245" y="4218063"/>
                </a:lnTo>
                <a:lnTo>
                  <a:pt x="2260636" y="4249404"/>
                </a:lnTo>
                <a:lnTo>
                  <a:pt x="2298270" y="4280462"/>
                </a:lnTo>
                <a:lnTo>
                  <a:pt x="2336145" y="4311236"/>
                </a:lnTo>
                <a:lnTo>
                  <a:pt x="2374261" y="4341724"/>
                </a:lnTo>
                <a:lnTo>
                  <a:pt x="2412615" y="4371924"/>
                </a:lnTo>
                <a:lnTo>
                  <a:pt x="2451206" y="4401836"/>
                </a:lnTo>
                <a:lnTo>
                  <a:pt x="2490033" y="4431456"/>
                </a:lnTo>
                <a:lnTo>
                  <a:pt x="2529093" y="4460784"/>
                </a:lnTo>
                <a:lnTo>
                  <a:pt x="2568385" y="4489818"/>
                </a:lnTo>
                <a:lnTo>
                  <a:pt x="2607907" y="4518556"/>
                </a:lnTo>
                <a:lnTo>
                  <a:pt x="2647658" y="4546997"/>
                </a:lnTo>
                <a:lnTo>
                  <a:pt x="2687636" y="4575139"/>
                </a:lnTo>
                <a:lnTo>
                  <a:pt x="2727839" y="4602980"/>
                </a:lnTo>
                <a:lnTo>
                  <a:pt x="2768267" y="4630519"/>
                </a:lnTo>
                <a:lnTo>
                  <a:pt x="2808916" y="4657754"/>
                </a:lnTo>
                <a:lnTo>
                  <a:pt x="2849786" y="4684684"/>
                </a:lnTo>
                <a:lnTo>
                  <a:pt x="2890875" y="4711307"/>
                </a:lnTo>
                <a:lnTo>
                  <a:pt x="2932181" y="4737620"/>
                </a:lnTo>
                <a:lnTo>
                  <a:pt x="2973703" y="4763624"/>
                </a:lnTo>
                <a:lnTo>
                  <a:pt x="3015439" y="4789315"/>
                </a:lnTo>
                <a:lnTo>
                  <a:pt x="3057387" y="4814692"/>
                </a:lnTo>
                <a:lnTo>
                  <a:pt x="3099546" y="4839755"/>
                </a:lnTo>
                <a:lnTo>
                  <a:pt x="3141914" y="4864500"/>
                </a:lnTo>
                <a:lnTo>
                  <a:pt x="3184490" y="4888927"/>
                </a:lnTo>
                <a:lnTo>
                  <a:pt x="3227271" y="4913033"/>
                </a:lnTo>
                <a:lnTo>
                  <a:pt x="3270256" y="4936818"/>
                </a:lnTo>
                <a:lnTo>
                  <a:pt x="3313444" y="4960279"/>
                </a:lnTo>
                <a:lnTo>
                  <a:pt x="3400422" y="5006224"/>
                </a:lnTo>
                <a:lnTo>
                  <a:pt x="3488189" y="5050856"/>
                </a:lnTo>
                <a:lnTo>
                  <a:pt x="3576735" y="5094161"/>
                </a:lnTo>
                <a:lnTo>
                  <a:pt x="3666045" y="5136126"/>
                </a:lnTo>
                <a:lnTo>
                  <a:pt x="3756106" y="5176738"/>
                </a:lnTo>
                <a:lnTo>
                  <a:pt x="3846905" y="5215985"/>
                </a:lnTo>
                <a:lnTo>
                  <a:pt x="3938430" y="5253853"/>
                </a:lnTo>
                <a:lnTo>
                  <a:pt x="4030667" y="5290328"/>
                </a:lnTo>
                <a:lnTo>
                  <a:pt x="4123603" y="5325399"/>
                </a:lnTo>
                <a:lnTo>
                  <a:pt x="4217226" y="5359051"/>
                </a:lnTo>
                <a:lnTo>
                  <a:pt x="4311521" y="5391272"/>
                </a:lnTo>
                <a:lnTo>
                  <a:pt x="4406476" y="5422049"/>
                </a:lnTo>
                <a:lnTo>
                  <a:pt x="4502078" y="5451369"/>
                </a:lnTo>
                <a:lnTo>
                  <a:pt x="4598313" y="5479217"/>
                </a:lnTo>
                <a:lnTo>
                  <a:pt x="4695169" y="5505583"/>
                </a:lnTo>
                <a:lnTo>
                  <a:pt x="4792633" y="5530452"/>
                </a:lnTo>
                <a:lnTo>
                  <a:pt x="4890691" y="5553811"/>
                </a:lnTo>
                <a:lnTo>
                  <a:pt x="4989331" y="5575647"/>
                </a:lnTo>
                <a:lnTo>
                  <a:pt x="5088539" y="5595948"/>
                </a:lnTo>
                <a:lnTo>
                  <a:pt x="5188303" y="5614699"/>
                </a:lnTo>
                <a:lnTo>
                  <a:pt x="5288608" y="5631889"/>
                </a:lnTo>
                <a:lnTo>
                  <a:pt x="5389443" y="5647503"/>
                </a:lnTo>
                <a:lnTo>
                  <a:pt x="5490794" y="5661530"/>
                </a:lnTo>
                <a:lnTo>
                  <a:pt x="5592648" y="5673955"/>
                </a:lnTo>
                <a:lnTo>
                  <a:pt x="5683610" y="5683610"/>
                </a:lnTo>
                <a:lnTo>
                  <a:pt x="5683610" y="0"/>
                </a:lnTo>
                <a:close/>
              </a:path>
            </a:pathLst>
          </a:custGeom>
          <a:solidFill>
            <a:srgbClr val="0C1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279400"/>
            <a:ext cx="14757400" cy="576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F7F9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1768475"/>
            <a:ext cx="14065250" cy="457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0875" y="2832100"/>
            <a:ext cx="7534275" cy="1767839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355600">
              <a:lnSpc>
                <a:spcPts val="7000"/>
              </a:lnSpc>
              <a:tabLst>
                <a:tab pos="3215640" algn="l"/>
                <a:tab pos="4595495" algn="l"/>
              </a:tabLst>
            </a:pPr>
            <a:r>
              <a:rPr dirty="0" u="none" sz="5600" spc="-10"/>
              <a:t>99acres</a:t>
            </a:r>
            <a:r>
              <a:rPr dirty="0" u="none" sz="5600"/>
              <a:t>	</a:t>
            </a:r>
            <a:r>
              <a:rPr dirty="0" u="none" sz="5600" spc="-10"/>
              <a:t>Automation </a:t>
            </a:r>
            <a:r>
              <a:rPr dirty="0" u="none" sz="5600">
                <a:solidFill>
                  <a:srgbClr val="38BCF7"/>
                </a:solidFill>
              </a:rPr>
              <a:t>Module-</a:t>
            </a:r>
            <a:r>
              <a:rPr dirty="0" u="none" sz="5600" spc="-20">
                <a:solidFill>
                  <a:srgbClr val="38BCF7"/>
                </a:solidFill>
              </a:rPr>
              <a:t>Wise</a:t>
            </a:r>
            <a:r>
              <a:rPr dirty="0" u="none" sz="5600">
                <a:solidFill>
                  <a:srgbClr val="38BCF7"/>
                </a:solidFill>
              </a:rPr>
              <a:t>	</a:t>
            </a:r>
            <a:r>
              <a:rPr dirty="0" u="none" sz="5600" spc="-10">
                <a:solidFill>
                  <a:srgbClr val="38BCF7"/>
                </a:solidFill>
              </a:rPr>
              <a:t>Analysis</a:t>
            </a:r>
            <a:endParaRPr sz="5600"/>
          </a:p>
        </p:txBody>
      </p:sp>
      <p:sp>
        <p:nvSpPr>
          <p:cNvPr id="3" name="object 3" descr=""/>
          <p:cNvSpPr txBox="1"/>
          <p:nvPr/>
        </p:nvSpPr>
        <p:spPr>
          <a:xfrm>
            <a:off x="3566845" y="4909820"/>
            <a:ext cx="9123680" cy="73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8650">
              <a:lnSpc>
                <a:spcPct val="129600"/>
              </a:lnSpc>
              <a:spcBef>
                <a:spcPts val="100"/>
              </a:spcBef>
            </a:pPr>
            <a:r>
              <a:rPr dirty="0" sz="1800">
                <a:solidFill>
                  <a:srgbClr val="93A3B8"/>
                </a:solidFill>
                <a:latin typeface="Arial MT"/>
                <a:cs typeface="Arial MT"/>
              </a:rPr>
              <a:t>Comprehensive End-to-End Testing Report covering Buy, Rent, New </a:t>
            </a:r>
            <a:r>
              <a:rPr dirty="0" sz="1800" spc="-10">
                <a:solidFill>
                  <a:srgbClr val="93A3B8"/>
                </a:solidFill>
                <a:latin typeface="Arial MT"/>
                <a:cs typeface="Arial MT"/>
              </a:rPr>
              <a:t>Launch, </a:t>
            </a:r>
            <a:r>
              <a:rPr dirty="0" sz="1800">
                <a:solidFill>
                  <a:srgbClr val="93A3B8"/>
                </a:solidFill>
                <a:latin typeface="Arial MT"/>
                <a:cs typeface="Arial MT"/>
              </a:rPr>
              <a:t>Commercial, Projects, and Land/Plots Modules using Selenium, Pytest, and Behave </a:t>
            </a:r>
            <a:r>
              <a:rPr dirty="0" sz="1800" spc="-20">
                <a:solidFill>
                  <a:srgbClr val="93A3B8"/>
                </a:solidFill>
                <a:latin typeface="Arial MT"/>
                <a:cs typeface="Arial MT"/>
              </a:rPr>
              <a:t>BDD.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40258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Project </a:t>
            </a:r>
            <a:r>
              <a:rPr dirty="0" u="none" spc="-10"/>
              <a:t>Contributors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73150" y="882650"/>
            <a:ext cx="4457700" cy="2171700"/>
            <a:chOff x="1073150" y="882650"/>
            <a:chExt cx="4457700" cy="2171700"/>
          </a:xfrm>
        </p:grpSpPr>
        <p:sp>
          <p:nvSpPr>
            <p:cNvPr id="4" name="object 4" descr=""/>
            <p:cNvSpPr/>
            <p:nvPr/>
          </p:nvSpPr>
          <p:spPr>
            <a:xfrm>
              <a:off x="1079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79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166694" y="109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76417" y="1452489"/>
            <a:ext cx="1651635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1260"/>
              </a:spcBef>
            </a:pPr>
            <a:r>
              <a:rPr dirty="0" sz="1800" b="1">
                <a:solidFill>
                  <a:srgbClr val="F7F9FB"/>
                </a:solidFill>
                <a:latin typeface="Arial"/>
                <a:cs typeface="Arial"/>
              </a:rPr>
              <a:t>Shaury </a:t>
            </a:r>
            <a:r>
              <a:rPr dirty="0" sz="1800" spc="-10" b="1">
                <a:solidFill>
                  <a:srgbClr val="F7F9FB"/>
                </a:solidFill>
                <a:latin typeface="Arial"/>
                <a:cs typeface="Arial"/>
              </a:rPr>
              <a:t>Rawat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PROJECTS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MODULE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899150" y="882650"/>
            <a:ext cx="4457700" cy="2171700"/>
            <a:chOff x="5899150" y="882650"/>
            <a:chExt cx="4457700" cy="2171700"/>
          </a:xfrm>
        </p:grpSpPr>
        <p:sp>
          <p:nvSpPr>
            <p:cNvPr id="9" name="object 9" descr=""/>
            <p:cNvSpPr/>
            <p:nvPr/>
          </p:nvSpPr>
          <p:spPr>
            <a:xfrm>
              <a:off x="5905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05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92694" y="109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98842" y="1452489"/>
            <a:ext cx="2058670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800" b="1">
                <a:solidFill>
                  <a:srgbClr val="F7F9FB"/>
                </a:solidFill>
                <a:latin typeface="Arial"/>
                <a:cs typeface="Arial"/>
              </a:rPr>
              <a:t>Jagadeeshkanna </a:t>
            </a:r>
            <a:r>
              <a:rPr dirty="0" sz="1800" spc="-50" b="1">
                <a:solidFill>
                  <a:srgbClr val="F7F9FB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LAND/PLOTS</a:t>
            </a:r>
            <a:r>
              <a:rPr dirty="0" sz="1300" spc="-8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MODULE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725150" y="882650"/>
            <a:ext cx="4457700" cy="2171700"/>
            <a:chOff x="10725150" y="882650"/>
            <a:chExt cx="4457700" cy="2171700"/>
          </a:xfrm>
        </p:grpSpPr>
        <p:sp>
          <p:nvSpPr>
            <p:cNvPr id="14" name="object 14" descr=""/>
            <p:cNvSpPr/>
            <p:nvPr/>
          </p:nvSpPr>
          <p:spPr>
            <a:xfrm>
              <a:off x="10731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731500" y="88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818694" y="109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004757" y="1452489"/>
            <a:ext cx="1898650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60"/>
              </a:spcBef>
            </a:pPr>
            <a:r>
              <a:rPr dirty="0" sz="1800" b="1">
                <a:solidFill>
                  <a:srgbClr val="F7F9FB"/>
                </a:solidFill>
                <a:latin typeface="Arial"/>
                <a:cs typeface="Arial"/>
              </a:rPr>
              <a:t>Satyam </a:t>
            </a:r>
            <a:r>
              <a:rPr dirty="0" sz="1800" spc="-10" b="1">
                <a:solidFill>
                  <a:srgbClr val="F7F9FB"/>
                </a:solidFill>
                <a:latin typeface="Arial"/>
                <a:cs typeface="Arial"/>
              </a:rPr>
              <a:t>Gangwar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COMMERCIAL</a:t>
            </a:r>
            <a:r>
              <a:rPr dirty="0" sz="1300" spc="-9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MODULE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073150" y="3422650"/>
            <a:ext cx="4457700" cy="2171700"/>
            <a:chOff x="1073150" y="3422650"/>
            <a:chExt cx="4457700" cy="2171700"/>
          </a:xfrm>
        </p:grpSpPr>
        <p:sp>
          <p:nvSpPr>
            <p:cNvPr id="19" name="object 19" descr=""/>
            <p:cNvSpPr/>
            <p:nvPr/>
          </p:nvSpPr>
          <p:spPr>
            <a:xfrm>
              <a:off x="1079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79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166694" y="363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425547" y="3992489"/>
            <a:ext cx="1753235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800" b="1">
                <a:solidFill>
                  <a:srgbClr val="F7F9FB"/>
                </a:solidFill>
                <a:latin typeface="Arial"/>
                <a:cs typeface="Arial"/>
              </a:rPr>
              <a:t>Madhu</a:t>
            </a:r>
            <a:r>
              <a:rPr dirty="0" sz="1800" spc="-6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7F9FB"/>
                </a:solidFill>
                <a:latin typeface="Arial"/>
                <a:cs typeface="Arial"/>
              </a:rPr>
              <a:t>Damsani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RENT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MODULE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899150" y="3422650"/>
            <a:ext cx="4457700" cy="2171700"/>
            <a:chOff x="5899150" y="3422650"/>
            <a:chExt cx="4457700" cy="2171700"/>
          </a:xfrm>
        </p:grpSpPr>
        <p:sp>
          <p:nvSpPr>
            <p:cNvPr id="24" name="object 24" descr=""/>
            <p:cNvSpPr/>
            <p:nvPr/>
          </p:nvSpPr>
          <p:spPr>
            <a:xfrm>
              <a:off x="5905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905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992694" y="363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564018" y="3992489"/>
            <a:ext cx="1128395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800" spc="-10" b="1">
                <a:solidFill>
                  <a:srgbClr val="F7F9FB"/>
                </a:solidFill>
                <a:latin typeface="Arial"/>
                <a:cs typeface="Arial"/>
              </a:rPr>
              <a:t>Rohan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NEW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LAUNCH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725150" y="3422650"/>
            <a:ext cx="4457700" cy="2171700"/>
            <a:chOff x="10725150" y="3422650"/>
            <a:chExt cx="4457700" cy="2171700"/>
          </a:xfrm>
        </p:grpSpPr>
        <p:sp>
          <p:nvSpPr>
            <p:cNvPr id="29" name="object 29" descr=""/>
            <p:cNvSpPr/>
            <p:nvPr/>
          </p:nvSpPr>
          <p:spPr>
            <a:xfrm>
              <a:off x="10731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4318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731500" y="342900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127000" y="2159000"/>
                  </a:moveTo>
                  <a:lnTo>
                    <a:pt x="4318000" y="2159000"/>
                  </a:lnTo>
                  <a:lnTo>
                    <a:pt x="4367461" y="2149028"/>
                  </a:lnTo>
                  <a:lnTo>
                    <a:pt x="4407827" y="2121827"/>
                  </a:lnTo>
                  <a:lnTo>
                    <a:pt x="4435028" y="2081461"/>
                  </a:lnTo>
                  <a:lnTo>
                    <a:pt x="4445000" y="2032000"/>
                  </a:lnTo>
                  <a:lnTo>
                    <a:pt x="4445000" y="127000"/>
                  </a:lnTo>
                  <a:lnTo>
                    <a:pt x="4435028" y="77538"/>
                  </a:lnTo>
                  <a:lnTo>
                    <a:pt x="4407827" y="37172"/>
                  </a:lnTo>
                  <a:lnTo>
                    <a:pt x="4367461" y="9971"/>
                  </a:lnTo>
                  <a:lnTo>
                    <a:pt x="4318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32000"/>
                  </a:lnTo>
                  <a:lnTo>
                    <a:pt x="9971" y="2081461"/>
                  </a:lnTo>
                  <a:lnTo>
                    <a:pt x="37172" y="2121827"/>
                  </a:lnTo>
                  <a:lnTo>
                    <a:pt x="77538" y="2149028"/>
                  </a:lnTo>
                  <a:lnTo>
                    <a:pt x="127000" y="2159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2818694" y="3632200"/>
            <a:ext cx="355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293345" y="3992489"/>
            <a:ext cx="1321435" cy="75247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800" b="1">
                <a:solidFill>
                  <a:srgbClr val="F7F9FB"/>
                </a:solidFill>
                <a:latin typeface="Arial"/>
                <a:cs typeface="Arial"/>
              </a:rPr>
              <a:t>Vijay </a:t>
            </a:r>
            <a:r>
              <a:rPr dirty="0" sz="1800" spc="-10" b="1">
                <a:solidFill>
                  <a:srgbClr val="F7F9FB"/>
                </a:solidFill>
                <a:latin typeface="Arial"/>
                <a:cs typeface="Arial"/>
              </a:rPr>
              <a:t>Kumar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300" b="1">
                <a:solidFill>
                  <a:srgbClr val="34D399"/>
                </a:solidFill>
                <a:latin typeface="Arial"/>
                <a:cs typeface="Arial"/>
              </a:rPr>
              <a:t>BUY </a:t>
            </a:r>
            <a:r>
              <a:rPr dirty="0" sz="1300" spc="-10" b="1">
                <a:solidFill>
                  <a:srgbClr val="34D399"/>
                </a:solidFill>
                <a:latin typeface="Arial"/>
                <a:cs typeface="Arial"/>
              </a:rPr>
              <a:t>MODULE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Rent Module: End-to-End </a:t>
            </a:r>
            <a:r>
              <a:rPr dirty="0" spc="-10"/>
              <a:t>Workflow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650" y="2533650"/>
            <a:ext cx="3441700" cy="1981200"/>
            <a:chOff x="882650" y="2533650"/>
            <a:chExt cx="3441700" cy="1981200"/>
          </a:xfrm>
        </p:grpSpPr>
        <p:sp>
          <p:nvSpPr>
            <p:cNvPr id="4" name="object 4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62000" y="4679950"/>
            <a:ext cx="14732000" cy="292100"/>
            <a:chOff x="762000" y="4679950"/>
            <a:chExt cx="14732000" cy="292100"/>
          </a:xfrm>
        </p:grpSpPr>
        <p:sp>
          <p:nvSpPr>
            <p:cNvPr id="7" name="object 7" descr=""/>
            <p:cNvSpPr/>
            <p:nvPr/>
          </p:nvSpPr>
          <p:spPr>
            <a:xfrm>
              <a:off x="762000" y="4826000"/>
              <a:ext cx="14732000" cy="0"/>
            </a:xfrm>
            <a:custGeom>
              <a:avLst/>
              <a:gdLst/>
              <a:ahLst/>
              <a:cxnLst/>
              <a:rect l="l" t="t" r="r" b="b"/>
              <a:pathLst>
                <a:path w="14732000" h="0">
                  <a:moveTo>
                    <a:pt x="0" y="0"/>
                  </a:moveTo>
                  <a:lnTo>
                    <a:pt x="14732000" y="0"/>
                  </a:lnTo>
                </a:path>
              </a:pathLst>
            </a:custGeom>
            <a:ln w="381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0" y="4699000"/>
              <a:ext cx="254000" cy="254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76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500" y="4699000"/>
              <a:ext cx="254000" cy="2540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59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2500" y="4699000"/>
              <a:ext cx="254000" cy="2540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842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500" y="4699000"/>
              <a:ext cx="254000" cy="2540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525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3" y="37197"/>
                  </a:lnTo>
                  <a:lnTo>
                    <a:pt x="176434" y="9980"/>
                  </a:lnTo>
                  <a:lnTo>
                    <a:pt x="127000" y="0"/>
                  </a:lnTo>
                  <a:lnTo>
                    <a:pt x="77565" y="9980"/>
                  </a:lnTo>
                  <a:lnTo>
                    <a:pt x="37196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6" y="216802"/>
                  </a:lnTo>
                  <a:lnTo>
                    <a:pt x="77565" y="244019"/>
                  </a:lnTo>
                  <a:lnTo>
                    <a:pt x="127000" y="254000"/>
                  </a:lnTo>
                  <a:lnTo>
                    <a:pt x="176434" y="244019"/>
                  </a:lnTo>
                  <a:lnTo>
                    <a:pt x="216803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44778" y="2654300"/>
            <a:ext cx="3118485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233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1.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Initialization</a:t>
            </a:r>
            <a:endParaRPr sz="1500">
              <a:latin typeface="Arial"/>
              <a:cs typeface="Arial"/>
            </a:endParaRPr>
          </a:p>
          <a:p>
            <a:pPr algn="ctr" marL="12700" marR="5080" indent="-635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browser, navigate to 99acres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website,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and authenticate by logging in with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configured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Excel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data.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65650" y="5137150"/>
            <a:ext cx="3441700" cy="1981200"/>
            <a:chOff x="4565650" y="5137150"/>
            <a:chExt cx="3441700" cy="1981200"/>
          </a:xfrm>
        </p:grpSpPr>
        <p:sp>
          <p:nvSpPr>
            <p:cNvPr id="18" name="object 18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495607" y="5257800"/>
            <a:ext cx="1581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2.</a:t>
            </a:r>
            <a:r>
              <a:rPr dirty="0" sz="150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Search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Filter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783023" y="5669279"/>
            <a:ext cx="300736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Execute location search for rental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properties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and apply specific filters</a:t>
            </a:r>
            <a:r>
              <a:rPr dirty="0" sz="1200" spc="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like the '2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BHK'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criteria.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248650" y="2533650"/>
            <a:ext cx="3441700" cy="1981200"/>
            <a:chOff x="8248650" y="2533650"/>
            <a:chExt cx="3441700" cy="1981200"/>
          </a:xfrm>
        </p:grpSpPr>
        <p:sp>
          <p:nvSpPr>
            <p:cNvPr id="23" name="object 23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120409" y="2654300"/>
            <a:ext cx="16986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3.</a:t>
            </a:r>
            <a:r>
              <a:rPr dirty="0" sz="1500" spc="-3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Property</a:t>
            </a:r>
            <a:r>
              <a:rPr dirty="0" sz="15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Details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398205" y="3065779"/>
            <a:ext cx="314325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individual property detail pages from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the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filtered results to validate listing integrity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data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display.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1931650" y="5137150"/>
            <a:ext cx="3441700" cy="1981200"/>
            <a:chOff x="11931650" y="5137150"/>
            <a:chExt cx="3441700" cy="1981200"/>
          </a:xfrm>
        </p:grpSpPr>
        <p:sp>
          <p:nvSpPr>
            <p:cNvPr id="28" name="object 28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2179122" y="5257800"/>
            <a:ext cx="2947035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961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4. Owner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Contact</a:t>
            </a:r>
            <a:endParaRPr sz="1500">
              <a:latin typeface="Arial"/>
              <a:cs typeface="Arial"/>
            </a:endParaRPr>
          </a:p>
          <a:p>
            <a:pPr algn="ctr" marL="12065" marR="5080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Initiate the 'Open Owner Details' action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verify the presence and functionality of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the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Contact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Section.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Rent Module: Test Case </a:t>
            </a:r>
            <a:r>
              <a:rPr dirty="0" spc="-10"/>
              <a:t>Breakdown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517650"/>
            <a:ext cx="7251700" cy="6362700"/>
            <a:chOff x="755650" y="1517650"/>
            <a:chExt cx="7251700" cy="6362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524000"/>
              <a:ext cx="7239000" cy="6350000"/>
            </a:xfrm>
            <a:custGeom>
              <a:avLst/>
              <a:gdLst/>
              <a:ahLst/>
              <a:cxnLst/>
              <a:rect l="l" t="t" r="r" b="b"/>
              <a:pathLst>
                <a:path w="7239000" h="6350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223000"/>
                  </a:lnTo>
                  <a:lnTo>
                    <a:pt x="9971" y="6272461"/>
                  </a:lnTo>
                  <a:lnTo>
                    <a:pt x="37172" y="6312827"/>
                  </a:lnTo>
                  <a:lnTo>
                    <a:pt x="77538" y="6340028"/>
                  </a:lnTo>
                  <a:lnTo>
                    <a:pt x="127000" y="6350000"/>
                  </a:lnTo>
                  <a:lnTo>
                    <a:pt x="7112000" y="6350000"/>
                  </a:lnTo>
                  <a:lnTo>
                    <a:pt x="7161461" y="6340028"/>
                  </a:lnTo>
                  <a:lnTo>
                    <a:pt x="7201827" y="6312827"/>
                  </a:lnTo>
                  <a:lnTo>
                    <a:pt x="7229028" y="6272461"/>
                  </a:lnTo>
                  <a:lnTo>
                    <a:pt x="7239000" y="6223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524000"/>
              <a:ext cx="7239000" cy="6350000"/>
            </a:xfrm>
            <a:custGeom>
              <a:avLst/>
              <a:gdLst/>
              <a:ahLst/>
              <a:cxnLst/>
              <a:rect l="l" t="t" r="r" b="b"/>
              <a:pathLst>
                <a:path w="7239000" h="6350000">
                  <a:moveTo>
                    <a:pt x="127000" y="6350000"/>
                  </a:moveTo>
                  <a:lnTo>
                    <a:pt x="7112000" y="6350000"/>
                  </a:lnTo>
                  <a:lnTo>
                    <a:pt x="7161461" y="6340028"/>
                  </a:lnTo>
                  <a:lnTo>
                    <a:pt x="7201827" y="6312827"/>
                  </a:lnTo>
                  <a:lnTo>
                    <a:pt x="7229028" y="6272461"/>
                  </a:lnTo>
                  <a:lnTo>
                    <a:pt x="7239000" y="6223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223000"/>
                  </a:lnTo>
                  <a:lnTo>
                    <a:pt x="9971" y="6272461"/>
                  </a:lnTo>
                  <a:lnTo>
                    <a:pt x="37172" y="6312827"/>
                  </a:lnTo>
                  <a:lnTo>
                    <a:pt x="77538" y="6340028"/>
                  </a:lnTo>
                  <a:lnTo>
                    <a:pt x="127000" y="6350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79500" y="1701800"/>
            <a:ext cx="23863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Positive Test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9500" y="2146300"/>
            <a:ext cx="254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34D399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66800" y="2281682"/>
            <a:ext cx="6610984" cy="103060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535"/>
              </a:spcBef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Verify Valid Search: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Ensures accurate property listings appear for valid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inputs.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950"/>
              </a:lnSpc>
              <a:spcBef>
                <a:spcPts val="620"/>
              </a:spcBef>
            </a:pPr>
            <a:r>
              <a:rPr dirty="0" sz="2000" spc="-50">
                <a:solidFill>
                  <a:srgbClr val="34D399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  <a:p>
            <a:pPr marL="266700">
              <a:lnSpc>
                <a:spcPts val="1230"/>
              </a:lnSpc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Verify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2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BHK Filter: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Confirms the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property type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filter accurately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isolates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relevant</a:t>
            </a:r>
            <a:endParaRPr sz="14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320"/>
              </a:spcBef>
            </a:pP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listings.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9500" y="3365500"/>
            <a:ext cx="254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34D399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33500" y="3556000"/>
            <a:ext cx="57810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Search Location Display: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Validates UI renders correct location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headers.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9500" y="3848100"/>
            <a:ext cx="254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34D399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33500" y="3997959"/>
            <a:ext cx="6394450" cy="53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19000"/>
              </a:lnSpc>
              <a:spcBef>
                <a:spcPts val="100"/>
              </a:spcBef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Property Details Page: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Checks that clicking a listing correctly opens the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detailed view.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248650" y="1517650"/>
            <a:ext cx="7251700" cy="6362700"/>
            <a:chOff x="8248650" y="1517650"/>
            <a:chExt cx="7251700" cy="6362700"/>
          </a:xfrm>
        </p:grpSpPr>
        <p:sp>
          <p:nvSpPr>
            <p:cNvPr id="14" name="object 14" descr=""/>
            <p:cNvSpPr/>
            <p:nvPr/>
          </p:nvSpPr>
          <p:spPr>
            <a:xfrm>
              <a:off x="8255000" y="1524000"/>
              <a:ext cx="7239000" cy="6350000"/>
            </a:xfrm>
            <a:custGeom>
              <a:avLst/>
              <a:gdLst/>
              <a:ahLst/>
              <a:cxnLst/>
              <a:rect l="l" t="t" r="r" b="b"/>
              <a:pathLst>
                <a:path w="7239000" h="6350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223000"/>
                  </a:lnTo>
                  <a:lnTo>
                    <a:pt x="9971" y="6272461"/>
                  </a:lnTo>
                  <a:lnTo>
                    <a:pt x="37172" y="6312827"/>
                  </a:lnTo>
                  <a:lnTo>
                    <a:pt x="77538" y="6340028"/>
                  </a:lnTo>
                  <a:lnTo>
                    <a:pt x="127000" y="6350000"/>
                  </a:lnTo>
                  <a:lnTo>
                    <a:pt x="7112000" y="6350000"/>
                  </a:lnTo>
                  <a:lnTo>
                    <a:pt x="7161461" y="6340028"/>
                  </a:lnTo>
                  <a:lnTo>
                    <a:pt x="7201827" y="6312827"/>
                  </a:lnTo>
                  <a:lnTo>
                    <a:pt x="7229028" y="6272461"/>
                  </a:lnTo>
                  <a:lnTo>
                    <a:pt x="7239000" y="6223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55000" y="1524000"/>
              <a:ext cx="7239000" cy="6350000"/>
            </a:xfrm>
            <a:custGeom>
              <a:avLst/>
              <a:gdLst/>
              <a:ahLst/>
              <a:cxnLst/>
              <a:rect l="l" t="t" r="r" b="b"/>
              <a:pathLst>
                <a:path w="7239000" h="6350000">
                  <a:moveTo>
                    <a:pt x="127000" y="6350000"/>
                  </a:moveTo>
                  <a:lnTo>
                    <a:pt x="7112000" y="6350000"/>
                  </a:lnTo>
                  <a:lnTo>
                    <a:pt x="7161461" y="6340028"/>
                  </a:lnTo>
                  <a:lnTo>
                    <a:pt x="7201827" y="6312827"/>
                  </a:lnTo>
                  <a:lnTo>
                    <a:pt x="7229028" y="6272461"/>
                  </a:lnTo>
                  <a:lnTo>
                    <a:pt x="7239000" y="6223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223000"/>
                  </a:lnTo>
                  <a:lnTo>
                    <a:pt x="9971" y="6272461"/>
                  </a:lnTo>
                  <a:lnTo>
                    <a:pt x="37172" y="6312827"/>
                  </a:lnTo>
                  <a:lnTo>
                    <a:pt x="77538" y="6340028"/>
                  </a:lnTo>
                  <a:lnTo>
                    <a:pt x="127000" y="6350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572500" y="2146300"/>
            <a:ext cx="254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F43F5D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559800" y="2882900"/>
            <a:ext cx="279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F43F5D"/>
                </a:solidFill>
                <a:latin typeface="MS Gothic"/>
                <a:cs typeface="MS Gothic"/>
              </a:rPr>
              <a:t>■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572500" y="1701800"/>
            <a:ext cx="6442710" cy="1864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  <a:p>
            <a:pPr marL="254000" marR="63500">
              <a:lnSpc>
                <a:spcPct val="119000"/>
              </a:lnSpc>
              <a:spcBef>
                <a:spcPts val="2280"/>
              </a:spcBef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Shortlist Requires Login: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Ensures unauthorized users are prompted to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login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when attempting to shortlist a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property.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00">
              <a:latin typeface="Arial MT"/>
              <a:cs typeface="Arial MT"/>
            </a:endParaRPr>
          </a:p>
          <a:p>
            <a:pPr marL="254000" marR="5080">
              <a:lnSpc>
                <a:spcPct val="119000"/>
              </a:lnSpc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Empty Location Validation: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Verifies that submitting an empty search query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is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blocked and handled gracefully by the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UI.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New Launch: End-to-End </a:t>
            </a:r>
            <a:r>
              <a:rPr dirty="0" spc="-10"/>
              <a:t>Workflow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650" y="2533650"/>
            <a:ext cx="3441700" cy="1981200"/>
            <a:chOff x="882650" y="2533650"/>
            <a:chExt cx="3441700" cy="1981200"/>
          </a:xfrm>
        </p:grpSpPr>
        <p:sp>
          <p:nvSpPr>
            <p:cNvPr id="4" name="object 4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62000" y="4679950"/>
            <a:ext cx="14732000" cy="292100"/>
            <a:chOff x="762000" y="4679950"/>
            <a:chExt cx="14732000" cy="292100"/>
          </a:xfrm>
        </p:grpSpPr>
        <p:sp>
          <p:nvSpPr>
            <p:cNvPr id="7" name="object 7" descr=""/>
            <p:cNvSpPr/>
            <p:nvPr/>
          </p:nvSpPr>
          <p:spPr>
            <a:xfrm>
              <a:off x="762000" y="4826000"/>
              <a:ext cx="14732000" cy="0"/>
            </a:xfrm>
            <a:custGeom>
              <a:avLst/>
              <a:gdLst/>
              <a:ahLst/>
              <a:cxnLst/>
              <a:rect l="l" t="t" r="r" b="b"/>
              <a:pathLst>
                <a:path w="14732000" h="0">
                  <a:moveTo>
                    <a:pt x="0" y="0"/>
                  </a:moveTo>
                  <a:lnTo>
                    <a:pt x="14732000" y="0"/>
                  </a:lnTo>
                </a:path>
              </a:pathLst>
            </a:custGeom>
            <a:ln w="381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0" y="4699000"/>
              <a:ext cx="254000" cy="254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76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500" y="4699000"/>
              <a:ext cx="254000" cy="2540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59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2500" y="4699000"/>
              <a:ext cx="254000" cy="2540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842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500" y="4699000"/>
              <a:ext cx="254000" cy="2540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525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3" y="37197"/>
                  </a:lnTo>
                  <a:lnTo>
                    <a:pt x="176434" y="9980"/>
                  </a:lnTo>
                  <a:lnTo>
                    <a:pt x="127000" y="0"/>
                  </a:lnTo>
                  <a:lnTo>
                    <a:pt x="77565" y="9980"/>
                  </a:lnTo>
                  <a:lnTo>
                    <a:pt x="37196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6" y="216802"/>
                  </a:lnTo>
                  <a:lnTo>
                    <a:pt x="77565" y="244019"/>
                  </a:lnTo>
                  <a:lnTo>
                    <a:pt x="127000" y="254000"/>
                  </a:lnTo>
                  <a:lnTo>
                    <a:pt x="176434" y="244019"/>
                  </a:lnTo>
                  <a:lnTo>
                    <a:pt x="216803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95755" y="2654300"/>
            <a:ext cx="3016250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199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1.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Launch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Login</a:t>
            </a:r>
            <a:endParaRPr sz="1500">
              <a:latin typeface="Arial"/>
              <a:cs typeface="Arial"/>
            </a:endParaRPr>
          </a:p>
          <a:p>
            <a:pPr algn="ctr" marL="12065" marR="5080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Browser, navigate to 99acres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website,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and authenticate via Login with mobile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OTP.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65650" y="5137150"/>
            <a:ext cx="3441700" cy="1981200"/>
            <a:chOff x="4565650" y="5137150"/>
            <a:chExt cx="3441700" cy="1981200"/>
          </a:xfrm>
        </p:grpSpPr>
        <p:sp>
          <p:nvSpPr>
            <p:cNvPr id="18" name="object 18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495607" y="5257800"/>
            <a:ext cx="1581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2.</a:t>
            </a:r>
            <a:r>
              <a:rPr dirty="0" sz="150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Search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Filter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710938" y="5669279"/>
            <a:ext cx="315214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New Launch Module, search Noida,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meticulously apply Property, Budget,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Bedroom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Filters.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248650" y="2533650"/>
            <a:ext cx="3441700" cy="1981200"/>
            <a:chOff x="8248650" y="2533650"/>
            <a:chExt cx="3441700" cy="1981200"/>
          </a:xfrm>
        </p:grpSpPr>
        <p:sp>
          <p:nvSpPr>
            <p:cNvPr id="23" name="object 23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173368" y="2654300"/>
            <a:ext cx="1592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3.</a:t>
            </a:r>
            <a:r>
              <a:rPr dirty="0" sz="1500" spc="-3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Property</a:t>
            </a:r>
            <a:r>
              <a:rPr dirty="0" sz="15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Detail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87511" y="3065779"/>
            <a:ext cx="29648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specific Project Details Page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automatically close any dynamic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Disclaimer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popups if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visible.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1931650" y="5137150"/>
            <a:ext cx="3441700" cy="1981200"/>
            <a:chOff x="11931650" y="5137150"/>
            <a:chExt cx="3441700" cy="1981200"/>
          </a:xfrm>
        </p:grpSpPr>
        <p:sp>
          <p:nvSpPr>
            <p:cNvPr id="28" name="object 28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2124181" y="5257800"/>
            <a:ext cx="3056890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851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4. View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Number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Fill contact details, select</a:t>
            </a:r>
            <a:r>
              <a:rPr dirty="0" sz="1200" spc="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'3 Months' if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asked,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click View Number, and verify the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Contact Section.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New</a:t>
            </a:r>
            <a:r>
              <a:rPr dirty="0" spc="-10"/>
              <a:t> </a:t>
            </a:r>
            <a:r>
              <a:rPr dirty="0"/>
              <a:t>Launch: Automated Test </a:t>
            </a:r>
            <a:r>
              <a:rPr dirty="0" spc="-10"/>
              <a:t>Coverage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390650"/>
            <a:ext cx="7251700" cy="6743700"/>
            <a:chOff x="755650" y="1390650"/>
            <a:chExt cx="7251700" cy="6743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127000" y="6731000"/>
                  </a:move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66800" y="1574800"/>
            <a:ext cx="24117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Positive Test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6800" y="2176779"/>
            <a:ext cx="6591300" cy="26543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test_open_newlaunch_module_from_homepage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18100"/>
              </a:lnSpc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Verifies that the New Launch module opens from the homepage and the search box is visible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empty.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test_search_valid_location_in_newlaunch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Searches for the configured valid location and verifies that New Launch results are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displayed.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test_location_suggestions_display_for_partial_location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Enters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partial location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text and validates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that Noida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suggestions are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shown.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test_residential_property_type_filter_applies_successfully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Applies the Flat/Apartment property type filter and validates that results remain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loaded.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48650" y="1390650"/>
            <a:ext cx="7251700" cy="6743700"/>
            <a:chOff x="8248650" y="1390650"/>
            <a:chExt cx="7251700" cy="6743700"/>
          </a:xfrm>
        </p:grpSpPr>
        <p:sp>
          <p:nvSpPr>
            <p:cNvPr id="9" name="object 9" descr=""/>
            <p:cNvSpPr/>
            <p:nvPr/>
          </p:nvSpPr>
          <p:spPr>
            <a:xfrm>
              <a:off x="8255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55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127000" y="6731000"/>
                  </a:move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559800" y="1574800"/>
            <a:ext cx="2496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59800" y="2176779"/>
            <a:ext cx="6757670" cy="15494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test_invalid_location_does_not_show_valid_suggestions_or_proceed</a:t>
            </a:r>
            <a:endParaRPr sz="1200">
              <a:latin typeface="Courier New"/>
              <a:cs typeface="Courier New"/>
            </a:endParaRPr>
          </a:p>
          <a:p>
            <a:pPr marL="12700" marR="17780">
              <a:lnSpc>
                <a:spcPct val="118100"/>
              </a:lnSpc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Enters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 invalid location and verifies that valid suggestions are not shown and the application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does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not navigate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away.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test_search_does_not_proceed_without_location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18100"/>
              </a:lnSpc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Clicks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without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entering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location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and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verifies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that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page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stays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on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New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Launch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search screen.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59800" y="3873500"/>
            <a:ext cx="22688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38BCF7"/>
                </a:solidFill>
                <a:latin typeface="Arial"/>
                <a:cs typeface="Arial"/>
              </a:rPr>
              <a:t>End-to-End</a:t>
            </a:r>
            <a:r>
              <a:rPr dirty="0" sz="17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1700" spc="-1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38BCF7"/>
                </a:solidFill>
                <a:latin typeface="Arial"/>
                <a:cs typeface="Arial"/>
              </a:rPr>
              <a:t>Case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559800" y="4373879"/>
            <a:ext cx="6743065" cy="6731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38BCF7"/>
                </a:solidFill>
                <a:latin typeface="Courier New"/>
                <a:cs typeface="Courier New"/>
              </a:rPr>
              <a:t>test_newlaunch_end_to_end_flow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18100"/>
              </a:lnSpc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login, New Launch search, filters, project detail opening, disclaimer handling, contact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form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handling, and View Number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flow.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Commercial Module: Pytest </a:t>
            </a:r>
            <a:r>
              <a:rPr dirty="0" spc="-10"/>
              <a:t>Suite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644650"/>
            <a:ext cx="7251700" cy="6108700"/>
            <a:chOff x="755650" y="1644650"/>
            <a:chExt cx="7251700" cy="6108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127000" y="6096000"/>
                  </a:move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41400" y="1953260"/>
            <a:ext cx="6694170" cy="340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86360">
              <a:lnSpc>
                <a:spcPct val="131000"/>
              </a:lnSpc>
              <a:spcBef>
                <a:spcPts val="100"/>
              </a:spcBef>
            </a:pP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The Pytest suite for the Commercial module features 10 rigorous steps covering </a:t>
            </a:r>
            <a:r>
              <a:rPr dirty="0" sz="1400" spc="-20">
                <a:solidFill>
                  <a:srgbClr val="CAD4E1"/>
                </a:solidFill>
                <a:latin typeface="Arial MT"/>
                <a:cs typeface="Arial MT"/>
              </a:rPr>
              <a:t>full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flow validation. It explicitly tests complex multi-city parameters and edge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cases.</a:t>
            </a:r>
            <a:endParaRPr sz="1400">
              <a:latin typeface="Arial MT"/>
              <a:cs typeface="Arial MT"/>
            </a:endParaRPr>
          </a:p>
          <a:p>
            <a:pPr marL="292100" marR="30480" indent="-254000">
              <a:lnSpc>
                <a:spcPct val="111100"/>
              </a:lnSpc>
              <a:spcBef>
                <a:spcPts val="1380"/>
              </a:spcBef>
              <a:buClr>
                <a:srgbClr val="34D399"/>
              </a:buClr>
              <a:buSzPct val="128571"/>
              <a:buFont typeface="MS Gothic"/>
              <a:buChar char="■"/>
              <a:tabLst>
                <a:tab pos="2921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Full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Commercial Flow: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Validates the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complete E2E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journey from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mobile login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to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commercial search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results.</a:t>
            </a:r>
            <a:endParaRPr sz="1400">
              <a:latin typeface="Arial MT"/>
              <a:cs typeface="Arial MT"/>
            </a:endParaRPr>
          </a:p>
          <a:p>
            <a:pPr marL="292100" marR="485775" indent="-254000">
              <a:lnSpc>
                <a:spcPct val="111100"/>
              </a:lnSpc>
              <a:spcBef>
                <a:spcPts val="1180"/>
              </a:spcBef>
              <a:buClr>
                <a:srgbClr val="34D399"/>
              </a:buClr>
              <a:buSzPct val="128571"/>
              <a:buFont typeface="MS Gothic"/>
              <a:buChar char="■"/>
              <a:tabLst>
                <a:tab pos="2921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Multi-City Operations: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Ensures listings load correctly for specific hubs </a:t>
            </a:r>
            <a:r>
              <a:rPr dirty="0" sz="1400" spc="-20">
                <a:solidFill>
                  <a:srgbClr val="CAD4E1"/>
                </a:solidFill>
                <a:latin typeface="Arial MT"/>
                <a:cs typeface="Arial MT"/>
              </a:rPr>
              <a:t>like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Mumbai, Delhi, and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Noida.</a:t>
            </a:r>
            <a:endParaRPr sz="1400">
              <a:latin typeface="Arial MT"/>
              <a:cs typeface="Arial MT"/>
            </a:endParaRPr>
          </a:p>
          <a:p>
            <a:pPr marL="292100" marR="494030" indent="-254000">
              <a:lnSpc>
                <a:spcPct val="111100"/>
              </a:lnSpc>
              <a:spcBef>
                <a:spcPts val="1180"/>
              </a:spcBef>
              <a:buClr>
                <a:srgbClr val="34D399"/>
              </a:buClr>
              <a:buSzPct val="128571"/>
              <a:buFont typeface="MS Gothic"/>
              <a:buChar char="■"/>
              <a:tabLst>
                <a:tab pos="2921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UI Interactions: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Verifies that property cards open detailed pages and </a:t>
            </a:r>
            <a:r>
              <a:rPr dirty="0" sz="1400" spc="-20">
                <a:solidFill>
                  <a:srgbClr val="CAD4E1"/>
                </a:solidFill>
                <a:latin typeface="Arial MT"/>
                <a:cs typeface="Arial MT"/>
              </a:rPr>
              <a:t>View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Number buttons are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clickable.</a:t>
            </a:r>
            <a:endParaRPr sz="1400">
              <a:latin typeface="Arial MT"/>
              <a:cs typeface="Arial MT"/>
            </a:endParaRPr>
          </a:p>
          <a:p>
            <a:pPr marL="292100" marR="78740" indent="-254000">
              <a:lnSpc>
                <a:spcPct val="111100"/>
              </a:lnSpc>
              <a:spcBef>
                <a:spcPts val="1180"/>
              </a:spcBef>
              <a:buClr>
                <a:srgbClr val="34D399"/>
              </a:buClr>
              <a:buSzPct val="128571"/>
              <a:buFont typeface="MS Gothic"/>
              <a:buChar char="■"/>
              <a:tabLst>
                <a:tab pos="2921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URL Resiliency: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Robust negative testing handles invalid locations (xyz123)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special</a:t>
            </a:r>
            <a:r>
              <a:rPr dirty="0" sz="1400" spc="-2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characters</a:t>
            </a:r>
            <a:r>
              <a:rPr dirty="0" sz="1400" spc="-1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(@@@@)</a:t>
            </a:r>
            <a:r>
              <a:rPr dirty="0" sz="1400" spc="-1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without</a:t>
            </a:r>
            <a:r>
              <a:rPr dirty="0" sz="1400" spc="-2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crashing.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55000" y="1651000"/>
            <a:ext cx="7239000" cy="6108700"/>
          </a:xfrm>
          <a:prstGeom prst="rect">
            <a:avLst/>
          </a:prstGeom>
          <a:ln w="12700">
            <a:solidFill>
              <a:srgbClr val="33476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0"/>
              </a:spcBef>
            </a:pPr>
            <a:endParaRPr sz="6000">
              <a:latin typeface="Times New Roman"/>
              <a:cs typeface="Times New Roman"/>
            </a:endParaRPr>
          </a:p>
          <a:p>
            <a:pPr algn="ctr" marL="181610">
              <a:lnSpc>
                <a:spcPct val="100000"/>
              </a:lnSpc>
            </a:pPr>
            <a:r>
              <a:rPr dirty="0" sz="6000" spc="-50">
                <a:solidFill>
                  <a:srgbClr val="38BCF7"/>
                </a:solidFill>
                <a:latin typeface="MS Gothic"/>
                <a:cs typeface="MS Gothic"/>
              </a:rPr>
              <a:t>■</a:t>
            </a:r>
            <a:endParaRPr sz="60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2000"/>
              </a:spcBef>
            </a:pPr>
            <a:r>
              <a:rPr dirty="0" sz="1800" b="1">
                <a:solidFill>
                  <a:srgbClr val="93A3B8"/>
                </a:solidFill>
                <a:latin typeface="Arial"/>
                <a:cs typeface="Arial"/>
              </a:rPr>
              <a:t>Commercial </a:t>
            </a:r>
            <a:r>
              <a:rPr dirty="0" sz="1800" spc="-10" b="1">
                <a:solidFill>
                  <a:srgbClr val="93A3B8"/>
                </a:solidFill>
                <a:latin typeface="Arial"/>
                <a:cs typeface="Arial"/>
              </a:rPr>
              <a:t>Module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55000" y="1651000"/>
            <a:ext cx="7239000" cy="6108700"/>
            <a:chOff x="8255000" y="1651000"/>
            <a:chExt cx="7239000" cy="6108700"/>
          </a:xfrm>
        </p:grpSpPr>
        <p:sp>
          <p:nvSpPr>
            <p:cNvPr id="9" name="object 9" descr=""/>
            <p:cNvSpPr/>
            <p:nvPr/>
          </p:nvSpPr>
          <p:spPr>
            <a:xfrm>
              <a:off x="8255000" y="1651000"/>
              <a:ext cx="7239000" cy="6108700"/>
            </a:xfrm>
            <a:custGeom>
              <a:avLst/>
              <a:gdLst/>
              <a:ahLst/>
              <a:cxnLst/>
              <a:rect l="l" t="t" r="r" b="b"/>
              <a:pathLst>
                <a:path w="7239000" h="6108700">
                  <a:moveTo>
                    <a:pt x="7239000" y="0"/>
                  </a:moveTo>
                  <a:lnTo>
                    <a:pt x="0" y="0"/>
                  </a:lnTo>
                  <a:lnTo>
                    <a:pt x="0" y="6108700"/>
                  </a:lnTo>
                  <a:lnTo>
                    <a:pt x="7239000" y="610870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0E13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6600" y="1752600"/>
              <a:ext cx="7035800" cy="5905500"/>
            </a:xfrm>
            <a:prstGeom prst="rect">
              <a:avLst/>
            </a:prstGeom>
          </p:spPr>
        </p:pic>
      </p:grp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Commercial</a:t>
            </a:r>
            <a:r>
              <a:rPr dirty="0" spc="-25"/>
              <a:t> </a:t>
            </a:r>
            <a:r>
              <a:rPr dirty="0"/>
              <a:t>Module:</a:t>
            </a:r>
            <a:r>
              <a:rPr dirty="0" spc="-25"/>
              <a:t> </a:t>
            </a:r>
            <a:r>
              <a:rPr dirty="0"/>
              <a:t>BDD</a:t>
            </a:r>
            <a:r>
              <a:rPr dirty="0" spc="-20"/>
              <a:t> </a:t>
            </a:r>
            <a:r>
              <a:rPr dirty="0" spc="-10"/>
              <a:t>Scenarios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644650"/>
            <a:ext cx="7251700" cy="6108700"/>
            <a:chOff x="755650" y="1644650"/>
            <a:chExt cx="7251700" cy="6108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127000" y="6096000"/>
                  </a:move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28700" y="1828800"/>
            <a:ext cx="6778625" cy="2715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Positive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Scenarios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000">
              <a:latin typeface="Arial"/>
              <a:cs typeface="Arial"/>
            </a:endParaRPr>
          </a:p>
          <a:p>
            <a:pPr marL="304800" marR="753745" indent="-254000">
              <a:lnSpc>
                <a:spcPct val="111100"/>
              </a:lnSpc>
              <a:buClr>
                <a:srgbClr val="34D399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Search by Location: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Inputting Mumbai/Hyderabad yields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corresponding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commercial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listings.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34D399"/>
              </a:buClr>
              <a:buFont typeface="MS Gothic"/>
              <a:buChar char="■"/>
            </a:pPr>
            <a:endParaRPr sz="1400">
              <a:latin typeface="Arial MT"/>
              <a:cs typeface="Arial MT"/>
            </a:endParaRPr>
          </a:p>
          <a:p>
            <a:pPr marL="304800" marR="556895" indent="-254000">
              <a:lnSpc>
                <a:spcPct val="111100"/>
              </a:lnSpc>
              <a:buClr>
                <a:srgbClr val="34D399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Advanced Filtering: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Applying filters to a Noida search correctly refines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the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displayed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listings.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34D399"/>
              </a:buClr>
              <a:buFont typeface="MS Gothic"/>
              <a:buChar char="■"/>
            </a:pPr>
            <a:endParaRPr sz="1400">
              <a:latin typeface="Arial MT"/>
              <a:cs typeface="Arial MT"/>
            </a:endParaRPr>
          </a:p>
          <a:p>
            <a:pPr marL="304800" marR="43180" indent="-254000">
              <a:lnSpc>
                <a:spcPct val="111100"/>
              </a:lnSpc>
              <a:buClr>
                <a:srgbClr val="34D399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Property Navigation: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Clicking a result card seamlessly transitions the user to </a:t>
            </a:r>
            <a:r>
              <a:rPr dirty="0" sz="1400" spc="-25">
                <a:solidFill>
                  <a:srgbClr val="CAD4E1"/>
                </a:solidFill>
                <a:latin typeface="Arial MT"/>
                <a:cs typeface="Arial MT"/>
              </a:rPr>
              <a:t>the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specific property detail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page.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248650" y="1644650"/>
            <a:ext cx="7251700" cy="6108700"/>
            <a:chOff x="8248650" y="1644650"/>
            <a:chExt cx="7251700" cy="6108700"/>
          </a:xfrm>
        </p:grpSpPr>
        <p:sp>
          <p:nvSpPr>
            <p:cNvPr id="8" name="object 8" descr=""/>
            <p:cNvSpPr/>
            <p:nvPr/>
          </p:nvSpPr>
          <p:spPr>
            <a:xfrm>
              <a:off x="8255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55000" y="1651000"/>
              <a:ext cx="7239000" cy="6096000"/>
            </a:xfrm>
            <a:custGeom>
              <a:avLst/>
              <a:gdLst/>
              <a:ahLst/>
              <a:cxnLst/>
              <a:rect l="l" t="t" r="r" b="b"/>
              <a:pathLst>
                <a:path w="7239000" h="6096000">
                  <a:moveTo>
                    <a:pt x="127000" y="6096000"/>
                  </a:moveTo>
                  <a:lnTo>
                    <a:pt x="7112000" y="6096000"/>
                  </a:lnTo>
                  <a:lnTo>
                    <a:pt x="7161461" y="6086028"/>
                  </a:lnTo>
                  <a:lnTo>
                    <a:pt x="7201827" y="6058827"/>
                  </a:lnTo>
                  <a:lnTo>
                    <a:pt x="7229028" y="6018461"/>
                  </a:lnTo>
                  <a:lnTo>
                    <a:pt x="7239000" y="5969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5969000"/>
                  </a:lnTo>
                  <a:lnTo>
                    <a:pt x="9971" y="6018461"/>
                  </a:lnTo>
                  <a:lnTo>
                    <a:pt x="37172" y="6058827"/>
                  </a:lnTo>
                  <a:lnTo>
                    <a:pt x="77538" y="6086028"/>
                  </a:lnTo>
                  <a:lnTo>
                    <a:pt x="127000" y="6096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521700" y="1828800"/>
            <a:ext cx="6765290" cy="2715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Scenarios</a:t>
            </a:r>
            <a:r>
              <a:rPr dirty="0" sz="2000" spc="-6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2000" spc="-6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38BCF7"/>
                </a:solidFill>
                <a:latin typeface="Arial"/>
                <a:cs typeface="Arial"/>
              </a:rPr>
              <a:t>E2E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000">
              <a:latin typeface="Arial"/>
              <a:cs typeface="Arial"/>
            </a:endParaRPr>
          </a:p>
          <a:p>
            <a:pPr marL="304800" marR="43180" indent="-254000">
              <a:lnSpc>
                <a:spcPct val="111100"/>
              </a:lnSpc>
              <a:buClr>
                <a:srgbClr val="F43F5D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Invalid</a:t>
            </a:r>
            <a:r>
              <a:rPr dirty="0" sz="1400" spc="-1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Inputs:</a:t>
            </a:r>
            <a:r>
              <a:rPr dirty="0" sz="1400" spc="-10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Searching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with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special</a:t>
            </a:r>
            <a:r>
              <a:rPr dirty="0" sz="1400" spc="-1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characters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(e.g.,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@@@@@@)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is</a:t>
            </a:r>
            <a:r>
              <a:rPr dirty="0" sz="1400" spc="-1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handled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safely without application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crashes.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43F5D"/>
              </a:buClr>
              <a:buFont typeface="MS Gothic"/>
              <a:buChar char="■"/>
            </a:pPr>
            <a:endParaRPr sz="1400">
              <a:latin typeface="Arial MT"/>
              <a:cs typeface="Arial MT"/>
            </a:endParaRPr>
          </a:p>
          <a:p>
            <a:pPr marL="304800" marR="147320" indent="-254000">
              <a:lnSpc>
                <a:spcPct val="111100"/>
              </a:lnSpc>
              <a:buClr>
                <a:srgbClr val="F43F5D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Empty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State Logic: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Searching without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entering a location is blocked,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prompting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proper UI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handling.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43F5D"/>
              </a:buClr>
              <a:buFont typeface="MS Gothic"/>
              <a:buChar char="■"/>
            </a:pPr>
            <a:endParaRPr sz="1400">
              <a:latin typeface="Arial MT"/>
              <a:cs typeface="Arial MT"/>
            </a:endParaRPr>
          </a:p>
          <a:p>
            <a:pPr marL="304800" marR="454025" indent="-254000">
              <a:lnSpc>
                <a:spcPct val="111100"/>
              </a:lnSpc>
              <a:buClr>
                <a:srgbClr val="F43F5D"/>
              </a:buClr>
              <a:buSzPct val="128571"/>
              <a:buFont typeface="MS Gothic"/>
              <a:buChar char="■"/>
              <a:tabLst>
                <a:tab pos="304800" algn="l"/>
              </a:tabLst>
            </a:pP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E2E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Login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7F9FB"/>
                </a:solidFill>
                <a:latin typeface="Arial"/>
                <a:cs typeface="Arial"/>
              </a:rPr>
              <a:t>Flow:</a:t>
            </a:r>
            <a:r>
              <a:rPr dirty="0" sz="1400" spc="-5" b="1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Verifies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Open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99acres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Symbol"/>
                <a:cs typeface="Symbol"/>
              </a:rPr>
              <a:t></a:t>
            </a:r>
            <a:r>
              <a:rPr dirty="0" sz="1400" spc="30">
                <a:solidFill>
                  <a:srgbClr val="CAD4E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Login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(mobile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+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OTP) </a:t>
            </a:r>
            <a:r>
              <a:rPr dirty="0" sz="1400">
                <a:solidFill>
                  <a:srgbClr val="CAD4E1"/>
                </a:solidFill>
                <a:latin typeface="Symbol"/>
                <a:cs typeface="Symbol"/>
              </a:rPr>
              <a:t></a:t>
            </a:r>
            <a:r>
              <a:rPr dirty="0" sz="1400" spc="30">
                <a:solidFill>
                  <a:srgbClr val="CAD4E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Search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commercial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property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Symbol"/>
                <a:cs typeface="Symbol"/>
              </a:rPr>
              <a:t></a:t>
            </a:r>
            <a:r>
              <a:rPr dirty="0" sz="1400" spc="35">
                <a:solidFill>
                  <a:srgbClr val="CAD4E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Navigate</a:t>
            </a:r>
            <a:r>
              <a:rPr dirty="0" sz="14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AD4E1"/>
                </a:solidFill>
                <a:latin typeface="Arial MT"/>
                <a:cs typeface="Arial MT"/>
              </a:rPr>
              <a:t>to </a:t>
            </a:r>
            <a:r>
              <a:rPr dirty="0" sz="1400" spc="-10">
                <a:solidFill>
                  <a:srgbClr val="CAD4E1"/>
                </a:solidFill>
                <a:latin typeface="Arial MT"/>
                <a:cs typeface="Arial MT"/>
              </a:rPr>
              <a:t>result.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Projects</a:t>
            </a:r>
            <a:r>
              <a:rPr dirty="0" spc="-10"/>
              <a:t> </a:t>
            </a:r>
            <a:r>
              <a:rPr dirty="0"/>
              <a:t>Module: Configured Test </a:t>
            </a:r>
            <a:r>
              <a:rPr dirty="0" spc="-20"/>
              <a:t>Data</a:t>
            </a:r>
            <a:r>
              <a:rPr dirty="0"/>
              <a:t>	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62000" y="2540000"/>
            <a:ext cx="13970000" cy="762000"/>
          </a:xfrm>
          <a:custGeom>
            <a:avLst/>
            <a:gdLst/>
            <a:ahLst/>
            <a:cxnLst/>
            <a:rect l="l" t="t" r="r" b="b"/>
            <a:pathLst>
              <a:path w="13970000" h="762000">
                <a:moveTo>
                  <a:pt x="13970000" y="0"/>
                </a:moveTo>
                <a:lnTo>
                  <a:pt x="0" y="0"/>
                </a:lnTo>
                <a:lnTo>
                  <a:pt x="0" y="762000"/>
                </a:lnTo>
                <a:lnTo>
                  <a:pt x="13970000" y="762000"/>
                </a:lnTo>
                <a:lnTo>
                  <a:pt x="13970000" y="0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62000" y="4064000"/>
            <a:ext cx="13970000" cy="762000"/>
          </a:xfrm>
          <a:custGeom>
            <a:avLst/>
            <a:gdLst/>
            <a:ahLst/>
            <a:cxnLst/>
            <a:rect l="l" t="t" r="r" b="b"/>
            <a:pathLst>
              <a:path w="13970000" h="762000">
                <a:moveTo>
                  <a:pt x="13970000" y="0"/>
                </a:moveTo>
                <a:lnTo>
                  <a:pt x="0" y="0"/>
                </a:lnTo>
                <a:lnTo>
                  <a:pt x="0" y="762000"/>
                </a:lnTo>
                <a:lnTo>
                  <a:pt x="13970000" y="762000"/>
                </a:lnTo>
                <a:lnTo>
                  <a:pt x="13970000" y="0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62000" y="5588000"/>
            <a:ext cx="13970000" cy="762000"/>
          </a:xfrm>
          <a:custGeom>
            <a:avLst/>
            <a:gdLst/>
            <a:ahLst/>
            <a:cxnLst/>
            <a:rect l="l" t="t" r="r" b="b"/>
            <a:pathLst>
              <a:path w="13970000" h="762000">
                <a:moveTo>
                  <a:pt x="13970000" y="0"/>
                </a:moveTo>
                <a:lnTo>
                  <a:pt x="0" y="0"/>
                </a:lnTo>
                <a:lnTo>
                  <a:pt x="0" y="762000"/>
                </a:lnTo>
                <a:lnTo>
                  <a:pt x="13970000" y="762000"/>
                </a:lnTo>
                <a:lnTo>
                  <a:pt x="13970000" y="0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52475" y="1768475"/>
          <a:ext cx="14065250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/>
                <a:gridCol w="2991485"/>
                <a:gridCol w="8274684"/>
              </a:tblGrid>
              <a:tr h="758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Configuration </a:t>
                      </a:r>
                      <a:r>
                        <a:rPr dirty="0" sz="1400" spc="-1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2230">
                    <a:lnL w="19050">
                      <a:solidFill>
                        <a:srgbClr val="334154"/>
                      </a:solidFill>
                      <a:prstDash val="solid"/>
                    </a:lnL>
                    <a:lnT w="190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Assigned Test </a:t>
                      </a:r>
                      <a:r>
                        <a:rPr dirty="0" sz="1400" spc="-1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2230">
                    <a:lnT w="190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Expected Workflow </a:t>
                      </a:r>
                      <a:r>
                        <a:rPr dirty="0" sz="1400" spc="-10" b="1">
                          <a:solidFill>
                            <a:srgbClr val="38BCF7"/>
                          </a:solidFill>
                          <a:latin typeface="Arial"/>
                          <a:cs typeface="Arial"/>
                        </a:rPr>
                        <a:t>Outcome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2230">
                    <a:lnR w="19050">
                      <a:solidFill>
                        <a:srgbClr val="334154"/>
                      </a:solidFill>
                      <a:prstDash val="solid"/>
                    </a:lnR>
                    <a:lnT w="190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Module</a:t>
                      </a:r>
                      <a:r>
                        <a:rPr dirty="0" sz="1300" spc="-25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300" spc="-25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9050">
                      <a:solidFill>
                        <a:srgbClr val="334154"/>
                      </a:solidFill>
                      <a:prstDash val="solid"/>
                    </a:lnL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300" spc="-2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Mumbai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executes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relevant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results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displayed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instantly.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R w="19050">
                      <a:solidFill>
                        <a:srgbClr val="334154"/>
                      </a:solidFill>
                      <a:prstDash val="solid"/>
                    </a:lnR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Property</a:t>
                      </a:r>
                      <a:r>
                        <a:rPr dirty="0" sz="1300" spc="-55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9050">
                      <a:solidFill>
                        <a:srgbClr val="334154"/>
                      </a:solidFill>
                      <a:prstDash val="solid"/>
                    </a:lnL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Flat/Apartment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Results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dynamically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filter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exclude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non-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residential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types.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R w="19050">
                      <a:solidFill>
                        <a:srgbClr val="334154"/>
                      </a:solidFill>
                      <a:prstDash val="solid"/>
                    </a:lnR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Bedroom</a:t>
                      </a:r>
                      <a:r>
                        <a:rPr dirty="0" sz="1300" spc="-6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Configuration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9050">
                      <a:solidFill>
                        <a:srgbClr val="334154"/>
                      </a:solidFill>
                      <a:prstDash val="solid"/>
                    </a:lnL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2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BHK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listings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refine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strictly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match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requested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bedroom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layout.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R w="19050">
                      <a:solidFill>
                        <a:srgbClr val="334154"/>
                      </a:solidFill>
                      <a:prstDash val="solid"/>
                    </a:lnR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Possession</a:t>
                      </a:r>
                      <a:r>
                        <a:rPr dirty="0" sz="1300" spc="-45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300" spc="-4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Timeline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9050">
                      <a:solidFill>
                        <a:srgbClr val="334154"/>
                      </a:solidFill>
                      <a:prstDash val="solid"/>
                    </a:lnL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300" spc="-2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2036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Buying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timeline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captured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correctly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View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form</a:t>
                      </a:r>
                      <a:r>
                        <a:rPr dirty="0" sz="1300" spc="-3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phase.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R w="19050">
                      <a:solidFill>
                        <a:srgbClr val="334154"/>
                      </a:solidFill>
                      <a:prstDash val="solid"/>
                    </a:lnR>
                    <a:lnT w="6350">
                      <a:solidFill>
                        <a:srgbClr val="334154"/>
                      </a:solidFill>
                      <a:prstDash val="solid"/>
                    </a:lnT>
                    <a:lnB w="6350">
                      <a:solidFill>
                        <a:srgbClr val="334154"/>
                      </a:solidFill>
                      <a:prstDash val="solid"/>
                    </a:lnB>
                    <a:solidFill>
                      <a:srgbClr val="131C2D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Popup</a:t>
                      </a:r>
                      <a:r>
                        <a:rPr dirty="0" sz="1300" spc="-45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Interaction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19050">
                      <a:solidFill>
                        <a:srgbClr val="334154"/>
                      </a:solidFill>
                      <a:prstDash val="solid"/>
                    </a:lnL>
                    <a:lnT w="6350">
                      <a:solidFill>
                        <a:srgbClr val="334154"/>
                      </a:solidFill>
                      <a:prstDash val="solid"/>
                    </a:lnT>
                    <a:lnB w="190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4535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Disclaimer</a:t>
                      </a:r>
                      <a:r>
                        <a:rPr dirty="0" sz="1300" spc="-6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Popup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T w="6350">
                      <a:solidFill>
                        <a:srgbClr val="334154"/>
                      </a:solidFill>
                      <a:prstDash val="solid"/>
                    </a:lnT>
                    <a:lnB w="190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27050">
                        <a:lnSpc>
                          <a:spcPct val="100000"/>
                        </a:lnSpc>
                      </a:pP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Automation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identifies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closes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disclaimer,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allowing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r>
                        <a:rPr dirty="0" sz="1300" spc="-35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300" spc="-4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10">
                          <a:solidFill>
                            <a:srgbClr val="CAD4E1"/>
                          </a:solidFill>
                          <a:latin typeface="Arial MT"/>
                          <a:cs typeface="Arial MT"/>
                        </a:rPr>
                        <a:t>continue.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80010">
                    <a:lnR w="19050">
                      <a:solidFill>
                        <a:srgbClr val="334154"/>
                      </a:solidFill>
                      <a:prstDash val="solid"/>
                    </a:lnR>
                    <a:lnT w="6350">
                      <a:solidFill>
                        <a:srgbClr val="334154"/>
                      </a:solidFill>
                      <a:prstDash val="solid"/>
                    </a:lnT>
                    <a:lnB w="19050">
                      <a:solidFill>
                        <a:srgbClr val="334154"/>
                      </a:solidFill>
                      <a:prstDash val="solid"/>
                    </a:lnB>
                    <a:solidFill>
                      <a:srgbClr val="1D28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Projects</a:t>
            </a:r>
            <a:r>
              <a:rPr dirty="0" spc="-5"/>
              <a:t> </a:t>
            </a:r>
            <a:r>
              <a:rPr dirty="0"/>
              <a:t>Module:</a:t>
            </a:r>
            <a:r>
              <a:rPr dirty="0" spc="-5"/>
              <a:t> </a:t>
            </a:r>
            <a:r>
              <a:rPr dirty="0"/>
              <a:t>Test</a:t>
            </a:r>
            <a:r>
              <a:rPr dirty="0" spc="-5"/>
              <a:t> </a:t>
            </a:r>
            <a:r>
              <a:rPr dirty="0"/>
              <a:t>Cases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 spc="-10"/>
              <a:t>Coverage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517650"/>
            <a:ext cx="7251700" cy="6489700"/>
            <a:chOff x="755650" y="1517650"/>
            <a:chExt cx="7251700" cy="6489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127000" y="6477000"/>
                  </a:move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66800" y="1701800"/>
            <a:ext cx="2721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Functional</a:t>
            </a:r>
            <a:r>
              <a:rPr dirty="0" sz="2000" spc="-5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5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6800" y="2331720"/>
            <a:ext cx="6569709" cy="25273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1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Projects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location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search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that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entering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location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successfully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fetches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relevant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project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listings.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2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Property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listing + 3 BHK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+ 2036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filter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Applies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configuration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filters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(3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BHK,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Possession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in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2036)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and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verifies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listings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update.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3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0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View Number popup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+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screenshot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Executes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contact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flow,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handles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popup,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and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captures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test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evidence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via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screenshot.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4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0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Rent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search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rent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search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functionality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integrated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within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testing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workflow.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48650" y="1517650"/>
            <a:ext cx="7251700" cy="6489700"/>
            <a:chOff x="8248650" y="1517650"/>
            <a:chExt cx="7251700" cy="6489700"/>
          </a:xfrm>
        </p:grpSpPr>
        <p:sp>
          <p:nvSpPr>
            <p:cNvPr id="9" name="object 9" descr=""/>
            <p:cNvSpPr/>
            <p:nvPr/>
          </p:nvSpPr>
          <p:spPr>
            <a:xfrm>
              <a:off x="8255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55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127000" y="6477000"/>
                  </a:move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559800" y="1701800"/>
            <a:ext cx="2496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59800" y="2331720"/>
            <a:ext cx="6054725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Case 5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F43F5D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F43F5D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Invalid location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negative </a:t>
            </a:r>
            <a:r>
              <a:rPr dirty="0" sz="1300" spc="-20" b="1">
                <a:solidFill>
                  <a:srgbClr val="F43F5D"/>
                </a:solidFill>
                <a:latin typeface="Courier New"/>
                <a:cs typeface="Courier New"/>
              </a:rPr>
              <a:t>test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Inputs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an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invalid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string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to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verify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system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safely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rejects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search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without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failing.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Case 6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F43F5D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F43F5D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Empty location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negative </a:t>
            </a:r>
            <a:r>
              <a:rPr dirty="0" sz="1300" spc="-20" b="1">
                <a:solidFill>
                  <a:srgbClr val="F43F5D"/>
                </a:solidFill>
                <a:latin typeface="Courier New"/>
                <a:cs typeface="Courier New"/>
              </a:rPr>
              <a:t>test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Attempts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to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search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with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an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empty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location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field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to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ensure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UI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blocks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2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action.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Land/Plots</a:t>
            </a:r>
            <a:r>
              <a:rPr dirty="0" spc="-10"/>
              <a:t> </a:t>
            </a:r>
            <a:r>
              <a:rPr dirty="0"/>
              <a:t>Module: End-to-End </a:t>
            </a:r>
            <a:r>
              <a:rPr dirty="0" spc="-10"/>
              <a:t>Workflow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650" y="2533650"/>
            <a:ext cx="3441700" cy="1981200"/>
            <a:chOff x="882650" y="2533650"/>
            <a:chExt cx="3441700" cy="1981200"/>
          </a:xfrm>
        </p:grpSpPr>
        <p:sp>
          <p:nvSpPr>
            <p:cNvPr id="4" name="object 4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62000" y="4679950"/>
            <a:ext cx="14732000" cy="292100"/>
            <a:chOff x="762000" y="4679950"/>
            <a:chExt cx="14732000" cy="292100"/>
          </a:xfrm>
        </p:grpSpPr>
        <p:sp>
          <p:nvSpPr>
            <p:cNvPr id="7" name="object 7" descr=""/>
            <p:cNvSpPr/>
            <p:nvPr/>
          </p:nvSpPr>
          <p:spPr>
            <a:xfrm>
              <a:off x="762000" y="4826000"/>
              <a:ext cx="14732000" cy="0"/>
            </a:xfrm>
            <a:custGeom>
              <a:avLst/>
              <a:gdLst/>
              <a:ahLst/>
              <a:cxnLst/>
              <a:rect l="l" t="t" r="r" b="b"/>
              <a:pathLst>
                <a:path w="14732000" h="0">
                  <a:moveTo>
                    <a:pt x="0" y="0"/>
                  </a:moveTo>
                  <a:lnTo>
                    <a:pt x="14732000" y="0"/>
                  </a:lnTo>
                </a:path>
              </a:pathLst>
            </a:custGeom>
            <a:ln w="381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0" y="4699000"/>
              <a:ext cx="254000" cy="254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76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500" y="4699000"/>
              <a:ext cx="254000" cy="2540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59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2500" y="4699000"/>
              <a:ext cx="254000" cy="2540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842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500" y="4699000"/>
              <a:ext cx="254000" cy="2540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525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3" y="37197"/>
                  </a:lnTo>
                  <a:lnTo>
                    <a:pt x="176434" y="9980"/>
                  </a:lnTo>
                  <a:lnTo>
                    <a:pt x="127000" y="0"/>
                  </a:lnTo>
                  <a:lnTo>
                    <a:pt x="77565" y="9980"/>
                  </a:lnTo>
                  <a:lnTo>
                    <a:pt x="37196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6" y="216802"/>
                  </a:lnTo>
                  <a:lnTo>
                    <a:pt x="77565" y="244019"/>
                  </a:lnTo>
                  <a:lnTo>
                    <a:pt x="127000" y="254000"/>
                  </a:lnTo>
                  <a:lnTo>
                    <a:pt x="176434" y="244019"/>
                  </a:lnTo>
                  <a:lnTo>
                    <a:pt x="216803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765173" y="2654300"/>
            <a:ext cx="1676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1.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Launch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Login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95755" y="3065779"/>
            <a:ext cx="3016250" cy="45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Browser, navigate to 99acres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website,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and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securely login with Phone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Number.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65650" y="5137150"/>
            <a:ext cx="3441700" cy="1981200"/>
            <a:chOff x="4565650" y="5137150"/>
            <a:chExt cx="3441700" cy="1981200"/>
          </a:xfrm>
        </p:grpSpPr>
        <p:sp>
          <p:nvSpPr>
            <p:cNvPr id="19" name="object 19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495607" y="5257800"/>
            <a:ext cx="1581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2.</a:t>
            </a:r>
            <a:r>
              <a:rPr dirty="0" sz="150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Search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Filter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40655" y="5669279"/>
            <a:ext cx="309245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 for desired location and apply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specific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financial parameters including Min and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Max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Budget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Filters.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8248650" y="2533650"/>
            <a:ext cx="3441700" cy="1981200"/>
            <a:chOff x="8248650" y="2533650"/>
            <a:chExt cx="3441700" cy="1981200"/>
          </a:xfrm>
        </p:grpSpPr>
        <p:sp>
          <p:nvSpPr>
            <p:cNvPr id="24" name="object 24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9009253" y="2654300"/>
            <a:ext cx="19208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3.</a:t>
            </a:r>
            <a:r>
              <a:rPr dirty="0" sz="1500" spc="-3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Property</a:t>
            </a:r>
            <a:r>
              <a:rPr dirty="0" sz="15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Selection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504046" y="3065779"/>
            <a:ext cx="2931795" cy="45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5080" indent="-67945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property details directly based on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the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applied filters to verify accurate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mapping.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1931650" y="5137150"/>
            <a:ext cx="3441700" cy="1981200"/>
            <a:chOff x="11931650" y="5137150"/>
            <a:chExt cx="3441700" cy="1981200"/>
          </a:xfrm>
        </p:grpSpPr>
        <p:sp>
          <p:nvSpPr>
            <p:cNvPr id="29" name="object 29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2856464" y="5257800"/>
            <a:ext cx="1592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4. Owner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Contact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221032" y="5669279"/>
            <a:ext cx="28632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Access the Owner Details component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meticulously verify the Contact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Section visibility.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Land/Plots</a:t>
            </a:r>
            <a:r>
              <a:rPr dirty="0" spc="-5"/>
              <a:t> </a:t>
            </a:r>
            <a:r>
              <a:rPr dirty="0"/>
              <a:t>Module:</a:t>
            </a:r>
            <a:r>
              <a:rPr dirty="0" spc="-5"/>
              <a:t> </a:t>
            </a:r>
            <a:r>
              <a:rPr dirty="0"/>
              <a:t>Test</a:t>
            </a:r>
            <a:r>
              <a:rPr dirty="0" spc="-5"/>
              <a:t> </a:t>
            </a:r>
            <a:r>
              <a:rPr dirty="0"/>
              <a:t>Cases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 spc="-10"/>
              <a:t>Coverage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517650"/>
            <a:ext cx="7251700" cy="6489700"/>
            <a:chOff x="755650" y="1517650"/>
            <a:chExt cx="7251700" cy="6489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127000" y="6477000"/>
                  </a:move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66800" y="1701800"/>
            <a:ext cx="27216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Functional</a:t>
            </a:r>
            <a:r>
              <a:rPr dirty="0" sz="2000" spc="-5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5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6800" y="2331720"/>
            <a:ext cx="5835015" cy="25273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1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Verify Valid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Property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Search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Ensures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accurate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Land/Plots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listings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are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fetched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for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search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queries.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2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Verify Min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Budget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Filter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that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listings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correctly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filter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to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meet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minimum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budget</a:t>
            </a:r>
            <a:r>
              <a:rPr dirty="0" sz="1300" spc="-3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threshold.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3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Verify Max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Budget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Filter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that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listings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do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not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exceed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maximum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requested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budget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constraint.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Test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Case 4 </a:t>
            </a:r>
            <a:r>
              <a:rPr dirty="0" sz="1300">
                <a:solidFill>
                  <a:srgbClr val="34D399"/>
                </a:solidFill>
                <a:latin typeface="Symbol"/>
                <a:cs typeface="Symbol"/>
              </a:rPr>
              <a:t></a:t>
            </a:r>
            <a:r>
              <a:rPr dirty="0" sz="1300" spc="450">
                <a:solidFill>
                  <a:srgbClr val="34D399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Verify Property Based on</a:t>
            </a:r>
            <a:r>
              <a:rPr dirty="0" sz="1300" spc="-5" b="1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34D399"/>
                </a:solidFill>
                <a:latin typeface="Courier New"/>
                <a:cs typeface="Courier New"/>
              </a:rPr>
              <a:t>Applied </a:t>
            </a:r>
            <a:r>
              <a:rPr dirty="0" sz="1300" spc="-10" b="1">
                <a:solidFill>
                  <a:srgbClr val="34D399"/>
                </a:solidFill>
                <a:latin typeface="Courier New"/>
                <a:cs typeface="Courier New"/>
              </a:rPr>
              <a:t>Filter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End-to-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End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verification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ensuring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opened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properties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match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all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active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filters.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48650" y="1517650"/>
            <a:ext cx="7251700" cy="6489700"/>
            <a:chOff x="8248650" y="1517650"/>
            <a:chExt cx="7251700" cy="6489700"/>
          </a:xfrm>
        </p:grpSpPr>
        <p:sp>
          <p:nvSpPr>
            <p:cNvPr id="9" name="object 9" descr=""/>
            <p:cNvSpPr/>
            <p:nvPr/>
          </p:nvSpPr>
          <p:spPr>
            <a:xfrm>
              <a:off x="8255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55000" y="1524000"/>
              <a:ext cx="7239000" cy="6477000"/>
            </a:xfrm>
            <a:custGeom>
              <a:avLst/>
              <a:gdLst/>
              <a:ahLst/>
              <a:cxnLst/>
              <a:rect l="l" t="t" r="r" b="b"/>
              <a:pathLst>
                <a:path w="7239000" h="6477000">
                  <a:moveTo>
                    <a:pt x="127000" y="6477000"/>
                  </a:moveTo>
                  <a:lnTo>
                    <a:pt x="7112000" y="6477000"/>
                  </a:lnTo>
                  <a:lnTo>
                    <a:pt x="7161461" y="6467028"/>
                  </a:lnTo>
                  <a:lnTo>
                    <a:pt x="7201827" y="6439827"/>
                  </a:lnTo>
                  <a:lnTo>
                    <a:pt x="7229028" y="6399461"/>
                  </a:lnTo>
                  <a:lnTo>
                    <a:pt x="7239000" y="6350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350000"/>
                  </a:lnTo>
                  <a:lnTo>
                    <a:pt x="9971" y="6399461"/>
                  </a:lnTo>
                  <a:lnTo>
                    <a:pt x="37172" y="6439827"/>
                  </a:lnTo>
                  <a:lnTo>
                    <a:pt x="77538" y="6467028"/>
                  </a:lnTo>
                  <a:lnTo>
                    <a:pt x="127000" y="6477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559800" y="1701800"/>
            <a:ext cx="2496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59800" y="2331720"/>
            <a:ext cx="5861685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Negative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Case 1 </a:t>
            </a:r>
            <a:r>
              <a:rPr dirty="0" sz="1300">
                <a:solidFill>
                  <a:srgbClr val="F43F5D"/>
                </a:solidFill>
                <a:latin typeface="Symbol"/>
                <a:cs typeface="Symbol"/>
              </a:rPr>
              <a:t></a:t>
            </a:r>
            <a:r>
              <a:rPr dirty="0" sz="1300" spc="450">
                <a:solidFill>
                  <a:srgbClr val="F43F5D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Enter Only Spaces in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Search </a:t>
            </a:r>
            <a:r>
              <a:rPr dirty="0" sz="1300" spc="-10" b="1">
                <a:solidFill>
                  <a:srgbClr val="F43F5D"/>
                </a:solidFill>
                <a:latin typeface="Courier New"/>
                <a:cs typeface="Courier New"/>
              </a:rPr>
              <a:t>Field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Tests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system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resilience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against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whitespace-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only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inputs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without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triggering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errors.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Negative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Case 2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solidFill>
                  <a:srgbClr val="F43F5D"/>
                </a:solidFill>
                <a:latin typeface="Symbol"/>
                <a:cs typeface="Symbol"/>
              </a:rPr>
              <a:t></a:t>
            </a:r>
            <a:r>
              <a:rPr dirty="0" sz="1300" spc="455">
                <a:solidFill>
                  <a:srgbClr val="F43F5D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Search with</a:t>
            </a:r>
            <a:r>
              <a:rPr dirty="0" sz="1300" spc="-5" b="1">
                <a:solidFill>
                  <a:srgbClr val="F43F5D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F43F5D"/>
                </a:solidFill>
                <a:latin typeface="Courier New"/>
                <a:cs typeface="Courier New"/>
              </a:rPr>
              <a:t>Empty </a:t>
            </a:r>
            <a:r>
              <a:rPr dirty="0" sz="1300" spc="-10" b="1">
                <a:solidFill>
                  <a:srgbClr val="F43F5D"/>
                </a:solidFill>
                <a:latin typeface="Courier New"/>
                <a:cs typeface="Courier New"/>
              </a:rPr>
              <a:t>Input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Verifies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that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empty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searches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are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gracefully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blocked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before</a:t>
            </a:r>
            <a:r>
              <a:rPr dirty="0" sz="1300" spc="-3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AD4E1"/>
                </a:solidFill>
                <a:latin typeface="Arial MT"/>
                <a:cs typeface="Arial MT"/>
              </a:rPr>
              <a:t>form</a:t>
            </a:r>
            <a:r>
              <a:rPr dirty="0" sz="1300" spc="-4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AD4E1"/>
                </a:solidFill>
                <a:latin typeface="Arial MT"/>
                <a:cs typeface="Arial MT"/>
              </a:rPr>
              <a:t>submission.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Buy Module: End-to-End </a:t>
            </a:r>
            <a:r>
              <a:rPr dirty="0" spc="-10"/>
              <a:t>Workflow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650" y="2533650"/>
            <a:ext cx="3441700" cy="1981200"/>
            <a:chOff x="882650" y="2533650"/>
            <a:chExt cx="3441700" cy="1981200"/>
          </a:xfrm>
        </p:grpSpPr>
        <p:sp>
          <p:nvSpPr>
            <p:cNvPr id="4" name="object 4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9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62000" y="4679950"/>
            <a:ext cx="14732000" cy="292100"/>
            <a:chOff x="762000" y="4679950"/>
            <a:chExt cx="14732000" cy="292100"/>
          </a:xfrm>
        </p:grpSpPr>
        <p:sp>
          <p:nvSpPr>
            <p:cNvPr id="7" name="object 7" descr=""/>
            <p:cNvSpPr/>
            <p:nvPr/>
          </p:nvSpPr>
          <p:spPr>
            <a:xfrm>
              <a:off x="762000" y="4826000"/>
              <a:ext cx="14732000" cy="0"/>
            </a:xfrm>
            <a:custGeom>
              <a:avLst/>
              <a:gdLst/>
              <a:ahLst/>
              <a:cxnLst/>
              <a:rect l="l" t="t" r="r" b="b"/>
              <a:pathLst>
                <a:path w="14732000" h="0">
                  <a:moveTo>
                    <a:pt x="0" y="0"/>
                  </a:moveTo>
                  <a:lnTo>
                    <a:pt x="14732000" y="0"/>
                  </a:lnTo>
                </a:path>
              </a:pathLst>
            </a:custGeom>
            <a:ln w="381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0" y="4699000"/>
              <a:ext cx="254000" cy="254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76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9500" y="4699000"/>
              <a:ext cx="254000" cy="2540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59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2500" y="4699000"/>
              <a:ext cx="254000" cy="2540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842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2" y="37197"/>
                  </a:lnTo>
                  <a:lnTo>
                    <a:pt x="176433" y="9980"/>
                  </a:lnTo>
                  <a:lnTo>
                    <a:pt x="127000" y="0"/>
                  </a:lnTo>
                  <a:lnTo>
                    <a:pt x="77566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7" y="216802"/>
                  </a:lnTo>
                  <a:lnTo>
                    <a:pt x="77566" y="244019"/>
                  </a:lnTo>
                  <a:lnTo>
                    <a:pt x="127000" y="254000"/>
                  </a:lnTo>
                  <a:lnTo>
                    <a:pt x="176433" y="244019"/>
                  </a:lnTo>
                  <a:lnTo>
                    <a:pt x="216802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500" y="4699000"/>
              <a:ext cx="254000" cy="2540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525500" y="4699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44019" y="77566"/>
                  </a:lnTo>
                  <a:lnTo>
                    <a:pt x="216803" y="37197"/>
                  </a:lnTo>
                  <a:lnTo>
                    <a:pt x="176434" y="9980"/>
                  </a:lnTo>
                  <a:lnTo>
                    <a:pt x="127000" y="0"/>
                  </a:lnTo>
                  <a:lnTo>
                    <a:pt x="77565" y="9980"/>
                  </a:lnTo>
                  <a:lnTo>
                    <a:pt x="37196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9980" y="176433"/>
                  </a:lnTo>
                  <a:lnTo>
                    <a:pt x="37196" y="216802"/>
                  </a:lnTo>
                  <a:lnTo>
                    <a:pt x="77565" y="244019"/>
                  </a:lnTo>
                  <a:lnTo>
                    <a:pt x="127000" y="254000"/>
                  </a:lnTo>
                  <a:lnTo>
                    <a:pt x="176434" y="244019"/>
                  </a:lnTo>
                  <a:lnTo>
                    <a:pt x="216803" y="216802"/>
                  </a:lnTo>
                  <a:lnTo>
                    <a:pt x="244019" y="176433"/>
                  </a:lnTo>
                  <a:lnTo>
                    <a:pt x="254000" y="127000"/>
                  </a:lnTo>
                </a:path>
              </a:pathLst>
            </a:custGeom>
            <a:ln w="38100">
              <a:solidFill>
                <a:srgbClr val="38BC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112672" y="2654300"/>
            <a:ext cx="2981960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055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1.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Launch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Access</a:t>
            </a:r>
            <a:endParaRPr sz="1500">
              <a:latin typeface="Arial"/>
              <a:cs typeface="Arial"/>
            </a:endParaRPr>
          </a:p>
          <a:p>
            <a:pPr algn="ctr" marL="12065" marR="5080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Open browser, authenticate user, and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verify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that the primary Buy module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opens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successfully from the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homepage.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65650" y="5137150"/>
            <a:ext cx="3441700" cy="1981200"/>
            <a:chOff x="4565650" y="5137150"/>
            <a:chExt cx="3441700" cy="1981200"/>
          </a:xfrm>
        </p:grpSpPr>
        <p:sp>
          <p:nvSpPr>
            <p:cNvPr id="18" name="object 18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72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495607" y="5257800"/>
            <a:ext cx="15817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2.</a:t>
            </a:r>
            <a:r>
              <a:rPr dirty="0" sz="1500" spc="-2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Search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&amp;</a:t>
            </a:r>
            <a:r>
              <a:rPr dirty="0" sz="1500" spc="-2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Filter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711014" y="5669279"/>
            <a:ext cx="315150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 configured valid locations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rigorously apply Budget, BHK, and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Residential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Property Type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filters.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248650" y="2533650"/>
            <a:ext cx="3441700" cy="1981200"/>
            <a:chOff x="8248650" y="2533650"/>
            <a:chExt cx="3441700" cy="1981200"/>
          </a:xfrm>
        </p:grpSpPr>
        <p:sp>
          <p:nvSpPr>
            <p:cNvPr id="23" name="object 23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255000" y="25400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120409" y="2654300"/>
            <a:ext cx="16986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3.</a:t>
            </a:r>
            <a:r>
              <a:rPr dirty="0" sz="1500" spc="-3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Property</a:t>
            </a:r>
            <a:r>
              <a:rPr dirty="0" sz="15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Details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19388" y="3065779"/>
            <a:ext cx="310070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8100"/>
              </a:lnSpc>
              <a:spcBef>
                <a:spcPts val="10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Navigate directly to the loaded property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detail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pages to validate listing specifications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against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filters.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1931650" y="5137150"/>
            <a:ext cx="3441700" cy="1981200"/>
            <a:chOff x="11931650" y="5137150"/>
            <a:chExt cx="3441700" cy="1981200"/>
          </a:xfrm>
        </p:grpSpPr>
        <p:sp>
          <p:nvSpPr>
            <p:cNvPr id="28" name="object 28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330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938000" y="5143500"/>
              <a:ext cx="3429000" cy="1968500"/>
            </a:xfrm>
            <a:custGeom>
              <a:avLst/>
              <a:gdLst/>
              <a:ahLst/>
              <a:cxnLst/>
              <a:rect l="l" t="t" r="r" b="b"/>
              <a:pathLst>
                <a:path w="3429000" h="1968500">
                  <a:moveTo>
                    <a:pt x="127000" y="1968500"/>
                  </a:moveTo>
                  <a:lnTo>
                    <a:pt x="3302000" y="1968500"/>
                  </a:lnTo>
                  <a:lnTo>
                    <a:pt x="3351461" y="1958528"/>
                  </a:lnTo>
                  <a:lnTo>
                    <a:pt x="3391827" y="1931327"/>
                  </a:lnTo>
                  <a:lnTo>
                    <a:pt x="3419028" y="1890961"/>
                  </a:lnTo>
                  <a:lnTo>
                    <a:pt x="3429000" y="1841500"/>
                  </a:lnTo>
                  <a:lnTo>
                    <a:pt x="3429000" y="127000"/>
                  </a:lnTo>
                  <a:lnTo>
                    <a:pt x="3419028" y="77538"/>
                  </a:lnTo>
                  <a:lnTo>
                    <a:pt x="3391827" y="37172"/>
                  </a:lnTo>
                  <a:lnTo>
                    <a:pt x="3351461" y="9971"/>
                  </a:lnTo>
                  <a:lnTo>
                    <a:pt x="330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841500"/>
                  </a:lnTo>
                  <a:lnTo>
                    <a:pt x="9971" y="1890961"/>
                  </a:lnTo>
                  <a:lnTo>
                    <a:pt x="37172" y="1931327"/>
                  </a:lnTo>
                  <a:lnTo>
                    <a:pt x="77538" y="1958528"/>
                  </a:lnTo>
                  <a:lnTo>
                    <a:pt x="127000" y="19685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2052300" y="5257800"/>
            <a:ext cx="3201035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265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8BCF7"/>
                </a:solidFill>
                <a:latin typeface="Arial"/>
                <a:cs typeface="Arial"/>
              </a:rPr>
              <a:t>4. </a:t>
            </a:r>
            <a:r>
              <a:rPr dirty="0" sz="1500" spc="-10" b="1">
                <a:solidFill>
                  <a:srgbClr val="38BCF7"/>
                </a:solidFill>
                <a:latin typeface="Arial"/>
                <a:cs typeface="Arial"/>
              </a:rPr>
              <a:t>Engagement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ct val="118100"/>
              </a:lnSpc>
              <a:spcBef>
                <a:spcPts val="144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Execute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contact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form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handling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process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CAD4E1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complete the final View Number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lead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generation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flow.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44065" algn="l"/>
              </a:tabLst>
            </a:pPr>
            <a:r>
              <a:rPr dirty="0"/>
              <a:t>Buy</a:t>
            </a:r>
            <a:r>
              <a:rPr dirty="0" spc="-10"/>
              <a:t> </a:t>
            </a:r>
            <a:r>
              <a:rPr dirty="0"/>
              <a:t>Module: Automated Test </a:t>
            </a:r>
            <a:r>
              <a:rPr dirty="0" spc="-10"/>
              <a:t>Coverage</a:t>
            </a:r>
            <a:r>
              <a:rPr dirty="0"/>
              <a:t>	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5650" y="1390650"/>
            <a:ext cx="7251700" cy="6743700"/>
            <a:chOff x="755650" y="1390650"/>
            <a:chExt cx="7251700" cy="6743700"/>
          </a:xfrm>
        </p:grpSpPr>
        <p:sp>
          <p:nvSpPr>
            <p:cNvPr id="4" name="object 4" descr=""/>
            <p:cNvSpPr/>
            <p:nvPr/>
          </p:nvSpPr>
          <p:spPr>
            <a:xfrm>
              <a:off x="762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2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127000" y="6731000"/>
                  </a:move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66800" y="1574800"/>
            <a:ext cx="24117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Positive Test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6800" y="2176779"/>
            <a:ext cx="6506209" cy="37592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test_open_buy_module_from_homepage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Verifies that the Buy module opens from the homepage and the search box is visible and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empty.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test_search_valid_location_in_buy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Searches for the configured valid location and verifies that Buy property results are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displayed.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test_location_suggestions_display...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Enters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partial location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text and validates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that relevant location</a:t>
            </a:r>
            <a:r>
              <a:rPr dirty="0" sz="1200" spc="-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suggestions are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shown.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test_residential_property_type_filter...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Applies the Flat/Apartment property type filter and validates that results remain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loaded.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test_budget_filter_applies_successfully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Applies a budget range filter and verifies that the Buy results are updated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accordingly.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34D399"/>
                </a:solidFill>
                <a:latin typeface="Courier New"/>
                <a:cs typeface="Courier New"/>
              </a:rPr>
              <a:t>test_bhk_filter_applies_successfully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Applies a BHK filter and validates that matching property results are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displayed.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248650" y="1390650"/>
            <a:ext cx="7251700" cy="6743700"/>
            <a:chOff x="8248650" y="1390650"/>
            <a:chExt cx="7251700" cy="6743700"/>
          </a:xfrm>
        </p:grpSpPr>
        <p:sp>
          <p:nvSpPr>
            <p:cNvPr id="9" name="object 9" descr=""/>
            <p:cNvSpPr/>
            <p:nvPr/>
          </p:nvSpPr>
          <p:spPr>
            <a:xfrm>
              <a:off x="8255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711200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55000" y="1397000"/>
              <a:ext cx="7239000" cy="6731000"/>
            </a:xfrm>
            <a:custGeom>
              <a:avLst/>
              <a:gdLst/>
              <a:ahLst/>
              <a:cxnLst/>
              <a:rect l="l" t="t" r="r" b="b"/>
              <a:pathLst>
                <a:path w="7239000" h="6731000">
                  <a:moveTo>
                    <a:pt x="127000" y="6731000"/>
                  </a:moveTo>
                  <a:lnTo>
                    <a:pt x="7112000" y="6731000"/>
                  </a:lnTo>
                  <a:lnTo>
                    <a:pt x="7161461" y="6721028"/>
                  </a:lnTo>
                  <a:lnTo>
                    <a:pt x="7201827" y="6693827"/>
                  </a:lnTo>
                  <a:lnTo>
                    <a:pt x="7229028" y="6653461"/>
                  </a:lnTo>
                  <a:lnTo>
                    <a:pt x="7239000" y="6604000"/>
                  </a:lnTo>
                  <a:lnTo>
                    <a:pt x="7239000" y="127000"/>
                  </a:lnTo>
                  <a:lnTo>
                    <a:pt x="7229028" y="77538"/>
                  </a:lnTo>
                  <a:lnTo>
                    <a:pt x="7201827" y="37172"/>
                  </a:lnTo>
                  <a:lnTo>
                    <a:pt x="7161461" y="9971"/>
                  </a:lnTo>
                  <a:lnTo>
                    <a:pt x="7112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6604000"/>
                  </a:lnTo>
                  <a:lnTo>
                    <a:pt x="9971" y="6653461"/>
                  </a:lnTo>
                  <a:lnTo>
                    <a:pt x="37172" y="6693827"/>
                  </a:lnTo>
                  <a:lnTo>
                    <a:pt x="77538" y="6721028"/>
                  </a:lnTo>
                  <a:lnTo>
                    <a:pt x="127000" y="6731000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559800" y="1574800"/>
            <a:ext cx="2496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Negative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2000" spc="-7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38BCF7"/>
                </a:solidFill>
                <a:latin typeface="Arial"/>
                <a:cs typeface="Arial"/>
              </a:rPr>
              <a:t>Cases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59800" y="2176779"/>
            <a:ext cx="6388100" cy="24384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test_invalid_location_does_not_show_valid...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Enters an invalid location and verifies no valid suggestions show; app does not navigate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away.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test_search_does_not_proceed_without_location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Clicks Search without a location; verifies page stays on the Buy search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screen.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test_no_results_message_for_unavailable_location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Searches for a location with no properties; verifies a proper no-results message is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displayed.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43F5D"/>
                </a:solidFill>
                <a:latin typeface="Courier New"/>
                <a:cs typeface="Courier New"/>
              </a:rPr>
              <a:t>test_invalid_budget_filter_does_not_break...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Applies conflicting budget filter; verifies page handles it without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crashing.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59800" y="4762500"/>
            <a:ext cx="22688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38BCF7"/>
                </a:solidFill>
                <a:latin typeface="Arial"/>
                <a:cs typeface="Arial"/>
              </a:rPr>
              <a:t>End-to-End</a:t>
            </a:r>
            <a:r>
              <a:rPr dirty="0" sz="1700" spc="-30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38BCF7"/>
                </a:solidFill>
                <a:latin typeface="Arial"/>
                <a:cs typeface="Arial"/>
              </a:rPr>
              <a:t>Test</a:t>
            </a:r>
            <a:r>
              <a:rPr dirty="0" sz="1700" spc="-15" b="1">
                <a:solidFill>
                  <a:srgbClr val="38BCF7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38BCF7"/>
                </a:solidFill>
                <a:latin typeface="Arial"/>
                <a:cs typeface="Arial"/>
              </a:rPr>
              <a:t>Case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559800" y="5262879"/>
            <a:ext cx="6666865" cy="6731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solidFill>
                  <a:srgbClr val="38BCF7"/>
                </a:solidFill>
                <a:latin typeface="Courier New"/>
                <a:cs typeface="Courier New"/>
              </a:rPr>
              <a:t>test_buy_end_to_end_flow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18100"/>
              </a:lnSpc>
            </a:pP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Validates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login, Buy module search, location selection, filters, property detail opening, contact </a:t>
            </a:r>
            <a:r>
              <a:rPr dirty="0" sz="1200" spc="-20">
                <a:solidFill>
                  <a:srgbClr val="CAD4E1"/>
                </a:solidFill>
                <a:latin typeface="Arial MT"/>
                <a:cs typeface="Arial MT"/>
              </a:rPr>
              <a:t>form </a:t>
            </a:r>
            <a:r>
              <a:rPr dirty="0" sz="1200">
                <a:solidFill>
                  <a:srgbClr val="CAD4E1"/>
                </a:solidFill>
                <a:latin typeface="Arial MT"/>
                <a:cs typeface="Arial MT"/>
              </a:rPr>
              <a:t>handling, and View Number </a:t>
            </a:r>
            <a:r>
              <a:rPr dirty="0" sz="1200" spc="-10">
                <a:solidFill>
                  <a:srgbClr val="CAD4E1"/>
                </a:solidFill>
                <a:latin typeface="Arial MT"/>
                <a:cs typeface="Arial MT"/>
              </a:rPr>
              <a:t>flow.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86760" algn="l"/>
              </a:tabLst>
            </a:pPr>
            <a:r>
              <a:rPr dirty="0" u="none" sz="8000" spc="-10">
                <a:solidFill>
                  <a:srgbClr val="38BCF7"/>
                </a:solidFill>
              </a:rPr>
              <a:t>Thank</a:t>
            </a:r>
            <a:r>
              <a:rPr dirty="0" u="none" sz="8000">
                <a:solidFill>
                  <a:srgbClr val="38BCF7"/>
                </a:solidFill>
              </a:rPr>
              <a:t>	</a:t>
            </a:r>
            <a:r>
              <a:rPr dirty="0" u="none" sz="8000" spc="-25">
                <a:solidFill>
                  <a:srgbClr val="38BCF7"/>
                </a:solidFill>
              </a:rPr>
              <a:t>You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4124350" y="4660900"/>
            <a:ext cx="800798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Thank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you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for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reviewing</a:t>
            </a:r>
            <a:r>
              <a:rPr dirty="0" sz="2200" spc="-6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the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99acres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Automation</a:t>
            </a:r>
            <a:r>
              <a:rPr dirty="0" sz="2200" spc="-6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AD4E1"/>
                </a:solidFill>
                <a:latin typeface="Arial MT"/>
                <a:cs typeface="Arial MT"/>
              </a:rPr>
              <a:t>Testing</a:t>
            </a:r>
            <a:r>
              <a:rPr dirty="0" sz="2200" spc="-65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CAD4E1"/>
                </a:solidFill>
                <a:latin typeface="Arial MT"/>
                <a:cs typeface="Arial MT"/>
              </a:rPr>
              <a:t>Report.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anonymous</dc:creator>
  <dc:subject>unspecified</dc:subject>
  <dc:title>untitled</dc:title>
  <dcterms:created xsi:type="dcterms:W3CDTF">2026-05-25T05:40:14Z</dcterms:created>
  <dcterms:modified xsi:type="dcterms:W3CDTF">2026-05-25T05:40:14Z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2026-05-25T00:00:00Z</vt:filetime>
  </property>
  <property fmtid="{D5CDD505-2E9C-101B-9397-08002B2CF9AE}" pid="5" name="Producer">
    <vt:lpwstr>ReportLab PDF Library - (opensource)</vt:lpwstr>
  </property>
</Properties>
</file>